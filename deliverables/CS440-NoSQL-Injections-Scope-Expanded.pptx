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ee95c57a9f44ca" /><Relationship Type="http://schemas.openxmlformats.org/officeDocument/2006/relationships/extended-properties" Target="/docProps/app.xml" Id="R038616ac72af4d51" /><Relationship Type="http://schemas.openxmlformats.org/officeDocument/2006/relationships/officeDocument" Target="/ppt/presentation.xml" Id="R645a14c538554ada" /></Relationships>
</file>

<file path=ppt/presentation.xml><?xml version="1.0" encoding="utf-8"?>
<p:presentation xmlns:p="http://schemas.openxmlformats.org/presentationml/2006/main">
  <p:sldMasterIdLst>
    <p:sldMasterId xmlns:r="http://schemas.openxmlformats.org/officeDocument/2006/relationships" id="2147483648" r:id="R419612f652b34f36"/>
  </p:sldMasterIdLst>
  <p:notesMasterIdLst>
    <p:notesMasterId xmlns:r="http://schemas.openxmlformats.org/officeDocument/2006/relationships" r:id="R8c2237105a8447d0"/>
  </p:notesMasterIdLst>
  <p:sldIdLst>
    <p:sldId xmlns:r="http://schemas.openxmlformats.org/officeDocument/2006/relationships" id="256" r:id="Rc64d43c78b4743ea"/>
    <p:sldId xmlns:r="http://schemas.openxmlformats.org/officeDocument/2006/relationships" id="257" r:id="Rc76726e3d66a4802"/>
    <p:sldId xmlns:r="http://schemas.openxmlformats.org/officeDocument/2006/relationships" id="258" r:id="R95a8a70e0b2c466c"/>
    <p:sldId xmlns:r="http://schemas.openxmlformats.org/officeDocument/2006/relationships" id="259" r:id="R55694a0f8a3043f4"/>
    <p:sldId xmlns:r="http://schemas.openxmlformats.org/officeDocument/2006/relationships" id="260" r:id="R94a0918534fd488a"/>
    <p:sldId xmlns:r="http://schemas.openxmlformats.org/officeDocument/2006/relationships" id="261" r:id="R4fa57f5a463648c9"/>
    <p:sldId xmlns:r="http://schemas.openxmlformats.org/officeDocument/2006/relationships" id="262" r:id="R4f89d9d1a5184493"/>
    <p:sldId xmlns:r="http://schemas.openxmlformats.org/officeDocument/2006/relationships" id="263" r:id="Raf0e2f35c25f4fcd"/>
    <p:sldId xmlns:r="http://schemas.openxmlformats.org/officeDocument/2006/relationships" id="264" r:id="Rad3defe452a2445c"/>
    <p:sldId xmlns:r="http://schemas.openxmlformats.org/officeDocument/2006/relationships" id="265" r:id="R592cea3e9d83432e"/>
    <p:sldId xmlns:r="http://schemas.openxmlformats.org/officeDocument/2006/relationships" id="266" r:id="R2bc3a39bb6664870"/>
    <p:sldId xmlns:r="http://schemas.openxmlformats.org/officeDocument/2006/relationships" id="267" r:id="Rd5a71ff684e74b29"/>
    <p:sldId xmlns:r="http://schemas.openxmlformats.org/officeDocument/2006/relationships" id="268" r:id="R00a704f70e2d4154"/>
    <p:sldId xmlns:r="http://schemas.openxmlformats.org/officeDocument/2006/relationships" id="269" r:id="Radc4a60813604bff"/>
    <p:sldId xmlns:r="http://schemas.openxmlformats.org/officeDocument/2006/relationships" id="270" r:id="R346a38eee78c4e1f"/>
    <p:sldId xmlns:r="http://schemas.openxmlformats.org/officeDocument/2006/relationships" id="271" r:id="Re45c13f4a3fc49e2"/>
    <p:sldId xmlns:r="http://schemas.openxmlformats.org/officeDocument/2006/relationships" id="272" r:id="R353def6f6b4940c2"/>
    <p:sldId xmlns:r="http://schemas.openxmlformats.org/officeDocument/2006/relationships" id="273" r:id="R56d2fbe3aff348f8"/>
    <p:sldId xmlns:r="http://schemas.openxmlformats.org/officeDocument/2006/relationships" id="274" r:id="R91796db34b5e45ed"/>
    <p:sldId xmlns:r="http://schemas.openxmlformats.org/officeDocument/2006/relationships" id="275" r:id="R91ca1e622f854ef3"/>
    <p:sldId xmlns:r="http://schemas.openxmlformats.org/officeDocument/2006/relationships" id="276" r:id="Ra50cd602de254289"/>
    <p:sldId xmlns:r="http://schemas.openxmlformats.org/officeDocument/2006/relationships" id="277" r:id="R94d1c0d7cd0947f0"/>
    <p:sldId xmlns:r="http://schemas.openxmlformats.org/officeDocument/2006/relationships" id="278" r:id="Rcccc455700204adc"/>
    <p:sldId xmlns:r="http://schemas.openxmlformats.org/officeDocument/2006/relationships" id="279" r:id="Rb35da2cc7c2b4a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165f2b61d443b8" /><Relationship Type="http://schemas.openxmlformats.org/officeDocument/2006/relationships/slideMaster" Target="/ppt/slideMasters/slideMaster1.xml" Id="R419612f652b34f36" /><Relationship Type="http://schemas.openxmlformats.org/officeDocument/2006/relationships/notesMaster" Target="/ppt/notesMasters/notesMaster1.xml" Id="R8c2237105a8447d0" /><Relationship Type="http://schemas.openxmlformats.org/officeDocument/2006/relationships/presProps" Target="/ppt/presProps.xml" Id="Rc11488d8ef314ca7" /><Relationship Type="http://schemas.openxmlformats.org/officeDocument/2006/relationships/tableStyles" Target="/ppt/tableStyles.xml" Id="R312ec5c8aee442a4" /><Relationship Type="http://schemas.openxmlformats.org/officeDocument/2006/relationships/slide" Target="/ppt/slides/slide1.xml" Id="Rc64d43c78b4743ea" /><Relationship Type="http://schemas.openxmlformats.org/officeDocument/2006/relationships/slide" Target="/ppt/slides/slide2.xml" Id="Rc76726e3d66a4802" /><Relationship Type="http://schemas.openxmlformats.org/officeDocument/2006/relationships/slide" Target="/ppt/slides/slide3.xml" Id="R95a8a70e0b2c466c" /><Relationship Type="http://schemas.openxmlformats.org/officeDocument/2006/relationships/slide" Target="/ppt/slides/slide4.xml" Id="R55694a0f8a3043f4" /><Relationship Type="http://schemas.openxmlformats.org/officeDocument/2006/relationships/slide" Target="/ppt/slides/slide5.xml" Id="R94a0918534fd488a" /><Relationship Type="http://schemas.openxmlformats.org/officeDocument/2006/relationships/slide" Target="/ppt/slides/slide6.xml" Id="R4fa57f5a463648c9" /><Relationship Type="http://schemas.openxmlformats.org/officeDocument/2006/relationships/slide" Target="/ppt/slides/slide7.xml" Id="R4f89d9d1a5184493" /><Relationship Type="http://schemas.openxmlformats.org/officeDocument/2006/relationships/slide" Target="/ppt/slides/slide8.xml" Id="Raf0e2f35c25f4fcd" /><Relationship Type="http://schemas.openxmlformats.org/officeDocument/2006/relationships/slide" Target="/ppt/slides/slide9.xml" Id="Rad3defe452a2445c" /><Relationship Type="http://schemas.openxmlformats.org/officeDocument/2006/relationships/slide" Target="/ppt/slides/slide10.xml" Id="R592cea3e9d83432e" /><Relationship Type="http://schemas.openxmlformats.org/officeDocument/2006/relationships/slide" Target="/ppt/slides/slide11.xml" Id="R2bc3a39bb6664870" /><Relationship Type="http://schemas.openxmlformats.org/officeDocument/2006/relationships/slide" Target="/ppt/slides/slide12.xml" Id="Rd5a71ff684e74b29" /><Relationship Type="http://schemas.openxmlformats.org/officeDocument/2006/relationships/slide" Target="/ppt/slides/slide13.xml" Id="R00a704f70e2d4154" /><Relationship Type="http://schemas.openxmlformats.org/officeDocument/2006/relationships/slide" Target="/ppt/slides/slide14.xml" Id="Radc4a60813604bff" /><Relationship Type="http://schemas.openxmlformats.org/officeDocument/2006/relationships/slide" Target="/ppt/slides/slide15.xml" Id="R346a38eee78c4e1f" /><Relationship Type="http://schemas.openxmlformats.org/officeDocument/2006/relationships/slide" Target="/ppt/slides/slide16.xml" Id="Re45c13f4a3fc49e2" /><Relationship Type="http://schemas.openxmlformats.org/officeDocument/2006/relationships/slide" Target="/ppt/slides/slide17.xml" Id="R353def6f6b4940c2" /><Relationship Type="http://schemas.openxmlformats.org/officeDocument/2006/relationships/slide" Target="/ppt/slides/slide18.xml" Id="R56d2fbe3aff348f8" /><Relationship Type="http://schemas.openxmlformats.org/officeDocument/2006/relationships/slide" Target="/ppt/slides/slide19.xml" Id="R91796db34b5e45ed" /><Relationship Type="http://schemas.openxmlformats.org/officeDocument/2006/relationships/slide" Target="/ppt/slides/slide20.xml" Id="R91ca1e622f854ef3" /><Relationship Type="http://schemas.openxmlformats.org/officeDocument/2006/relationships/slide" Target="/ppt/slides/slide21.xml" Id="Ra50cd602de254289" /><Relationship Type="http://schemas.openxmlformats.org/officeDocument/2006/relationships/slide" Target="/ppt/slides/slide22.xml" Id="R94d1c0d7cd0947f0" /><Relationship Type="http://schemas.openxmlformats.org/officeDocument/2006/relationships/slide" Target="/ppt/slides/slide23.xml" Id="Rcccc455700204adc" /><Relationship Type="http://schemas.openxmlformats.org/officeDocument/2006/relationships/slide" Target="/ppt/slides/slide24.xml" Id="Rb35da2cc7c2b4a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cea62b085145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b2e26d3af44f14" /><Relationship Type="http://schemas.openxmlformats.org/officeDocument/2006/relationships/notesMaster" Target="/ppt/notesMasters/notesMaster1.xml" Id="R8ca2faaa44074e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a2cf4d440e4a76" /><Relationship Type="http://schemas.openxmlformats.org/officeDocument/2006/relationships/notesMaster" Target="/ppt/notesMasters/notesMaster1.xml" Id="R0460c08a1c2c4c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930f53978f4731" /><Relationship Type="http://schemas.openxmlformats.org/officeDocument/2006/relationships/notesMaster" Target="/ppt/notesMasters/notesMaster1.xml" Id="Re8feba0a484f49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0000aef1fc453b" /><Relationship Type="http://schemas.openxmlformats.org/officeDocument/2006/relationships/notesMaster" Target="/ppt/notesMasters/notesMaster1.xml" Id="R17477d053bc742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8ccbedcabd4ff6" /><Relationship Type="http://schemas.openxmlformats.org/officeDocument/2006/relationships/notesMaster" Target="/ppt/notesMasters/notesMaster1.xml" Id="R256909b8cfe947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c94976bd0144c6" /><Relationship Type="http://schemas.openxmlformats.org/officeDocument/2006/relationships/notesMaster" Target="/ppt/notesMasters/notesMaster1.xml" Id="Rc9e1866aa2a244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0046f6383f46fc" /><Relationship Type="http://schemas.openxmlformats.org/officeDocument/2006/relationships/notesMaster" Target="/ppt/notesMasters/notesMaster1.xml" Id="R1979fdd72d144e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523f8b25434715" /><Relationship Type="http://schemas.openxmlformats.org/officeDocument/2006/relationships/notesMaster" Target="/ppt/notesMasters/notesMaster1.xml" Id="Rab1d29c6124542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35f1741d8d45ad" /><Relationship Type="http://schemas.openxmlformats.org/officeDocument/2006/relationships/notesMaster" Target="/ppt/notesMasters/notesMaster1.xml" Id="Rc8dc77226af04f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988dac242b4785" /><Relationship Type="http://schemas.openxmlformats.org/officeDocument/2006/relationships/notesMaster" Target="/ppt/notesMasters/notesMaster1.xml" Id="Rd20159b2c5564e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052f4368174043" /><Relationship Type="http://schemas.openxmlformats.org/officeDocument/2006/relationships/notesMaster" Target="/ppt/notesMasters/notesMaster1.xml" Id="Rb9e81a8911924e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4238b3379344db" /><Relationship Type="http://schemas.openxmlformats.org/officeDocument/2006/relationships/notesMaster" Target="/ppt/notesMasters/notesMaster1.xml" Id="Rd1465aa2cfa34a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34043686b245f5" /><Relationship Type="http://schemas.openxmlformats.org/officeDocument/2006/relationships/notesMaster" Target="/ppt/notesMasters/notesMaster1.xml" Id="R98c0886461c142a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c795c725aa846db" /><Relationship Type="http://schemas.openxmlformats.org/officeDocument/2006/relationships/notesMaster" Target="/ppt/notesMasters/notesMaster1.xml" Id="Re44dc2c8a5b9403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aa8ec24bb24f8c" /><Relationship Type="http://schemas.openxmlformats.org/officeDocument/2006/relationships/notesMaster" Target="/ppt/notesMasters/notesMaster1.xml" Id="Rf5efd117585649c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2b947eba6f47ab" /><Relationship Type="http://schemas.openxmlformats.org/officeDocument/2006/relationships/notesMaster" Target="/ppt/notesMasters/notesMaster1.xml" Id="R45bc180dd0294b5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9f902d9fa4245fb" /><Relationship Type="http://schemas.openxmlformats.org/officeDocument/2006/relationships/notesMaster" Target="/ppt/notesMasters/notesMaster1.xml" Id="R19d9ac8f656f4ce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f2bd3c783fd4b42" /><Relationship Type="http://schemas.openxmlformats.org/officeDocument/2006/relationships/notesMaster" Target="/ppt/notesMasters/notesMaster1.xml" Id="Rc03d610a78184ce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3b1258a3f1b4d63" /><Relationship Type="http://schemas.openxmlformats.org/officeDocument/2006/relationships/notesMaster" Target="/ppt/notesMasters/notesMaster1.xml" Id="Rfaf5cce6f0ef45e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043f346c34b4fa9" /><Relationship Type="http://schemas.openxmlformats.org/officeDocument/2006/relationships/notesMaster" Target="/ppt/notesMasters/notesMaster1.xml" Id="Rc058c73cf401461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f51e0fee122440d" /><Relationship Type="http://schemas.openxmlformats.org/officeDocument/2006/relationships/notesMaster" Target="/ppt/notesMasters/notesMaster1.xml" Id="Rd42e06cfc8964a6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656cb500a8a4d45" /><Relationship Type="http://schemas.openxmlformats.org/officeDocument/2006/relationships/notesMaster" Target="/ppt/notesMasters/notesMaster1.xml" Id="R416e2f8be6db4c0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ac853bf103c453a" /><Relationship Type="http://schemas.openxmlformats.org/officeDocument/2006/relationships/notesMaster" Target="/ppt/notesMasters/notesMaster1.xml" Id="R2e69e09e3390461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2270e2218534d8b" /><Relationship Type="http://schemas.openxmlformats.org/officeDocument/2006/relationships/notesMaster" Target="/ppt/notesMasters/notesMaster1.xml" Id="R982e020a01b747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0:25</a:t>
            </a:r>
          </a:p>
          <a:p xmlns:a="http://schemas.openxmlformats.org/drawingml/2006/main">
            <a:r>
              <a:t/>
            </a:r>
          </a:p>
          <a:p xmlns:a="http://schemas.openxmlformats.org/drawingml/2006/main">
            <a:r>
              <a:t>A login request can be valid JSON and still change the meaning of a database query. We investigated exactly where that change happens, then tested which controls stop it. Our project reproduces a mechanism from Ron and colleagues' 2016 paper and extends it with a controlled local comparison. The question is whether the application preserves its intended credential check.</a:t>
            </a:r>
          </a:p>
          <a:p xmlns:a="http://schemas.openxmlformats.org/drawingml/2006/main">
            <a:r>
              <a:t/>
            </a:r>
          </a:p>
          <a:p xmlns:a="http://schemas.openxmlformats.org/drawingml/2006/main">
            <a:r>
              <a:t>Sources: https://research.ibm.com/publications/analysis-and-mitigation-of-nosql-injections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
            </a:r>
          </a:p>
          <a:p xmlns:a="http://schemas.openxmlformats.org/drawingml/2006/main">
            <a:r>
              <a:t>NoSQL covers several database families. We focus on MongoDB, a document database. Its documents contain named fields, and a filter describes which documents to return. Here, the left-hand query looks for one literal username. The right-hand query uses an operator to match usernames that differ from an empty string. Both filters have structured representations, but they express different predicates. The MongoDB driver serialises the filter to BSON for the server. Our web interface receives JSON, which the application parses into JavaScript values. That representation change matters because the application expects credential strings.</a:t>
            </a:r>
          </a:p>
          <a:p xmlns:a="http://schemas.openxmlformats.org/drawingml/2006/main">
            <a:r>
              <a:t/>
            </a:r>
          </a:p>
          <a:p xmlns:a="http://schemas.openxmlformats.org/drawingml/2006/main">
            <a:r>
              <a:t>Sources: https://www.mongodb.com/docs/manual/reference/operator/query/ne/</a:t>
            </a:r>
          </a:p>
          <a:p xmlns:a="http://schemas.openxmlformats.org/drawingml/2006/main">
            <a:r>
              <a:t>https://www.infoq.com/articles/nosql-injections-analysis/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
            </a:r>
          </a:p>
          <a:p xmlns:a="http://schemas.openxmlformats.org/drawingml/2006/main">
            <a:r>
              <a:t>The attacker can submit JSON to the login endpoint and knows Alice's username. They cannot alter application code, change the records or connect directly to the database. The application parses the request, constructs a filter and uses its legitimate database service account. The dangerous boundary is where a client-controlled value becomes a query condition. After the database returns an account, the application creates a session. In CS440 terms, the service account's authority to read a record is different from evidence of the end user's identity. False authentication can then expose that user's protected data.</a:t>
            </a:r>
          </a:p>
          <a:p xmlns:a="http://schemas.openxmlformats.org/drawingml/2006/main">
            <a:r>
              <a:t/>
            </a:r>
          </a:p>
          <a:p xmlns:a="http://schemas.openxmlformats.org/drawingml/2006/main">
            <a:r>
              <a:t>Sources: https://www.infoq.com/articles/nosql-injections-analysis/</a:t>
            </a:r>
          </a:p>
          <a:p xmlns:a="http://schemas.openxmlformats.org/drawingml/2006/main">
            <a:r>
              <a:t>https://www.mongodb.com/docs/manual/reference/built-in-roles/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
            </a:r>
          </a:p>
          <a:p xmlns:a="http://schemas.openxmlformats.org/drawingml/2006/main">
            <a:r>
              <a:t>The paper surveys several boundaries. Objects can become query predicates. Constructed query text can acquire extra logic, which the authors discuss using SQL-inspired union terminology. These labels can overlap. Client strings can also enter JavaScript source or a protocol command. The browser-origin example concerns CSRF, a separate trust issue. We investigate operator injection experimentally and compare it conceptually with JavaScript injection. That choice gives us depth while locating the result within the wider topic. Our research question is which controls stop the operator-based login bypass. The five rows describe the literature landscape, not five attacks we have demonstrated.</a:t>
            </a:r>
          </a:p>
          <a:p xmlns:a="http://schemas.openxmlformats.org/drawingml/2006/main">
            <a:r>
              <a:t/>
            </a:r>
          </a:p>
          <a:p xmlns:a="http://schemas.openxmlformats.org/drawingml/2006/main">
            <a:r>
              <a:t>Sources: https://www.infoq.com/articles/nosql-injections-analysis/</a:t>
            </a:r>
          </a:p>
          <a:p xmlns:a="http://schemas.openxmlformats.org/drawingml/2006/main">
            <a:r>
              <a:t>https://research.ibm.com/publications/analysis-and-mitigation-of-nosql-injections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1:00</a:t>
            </a:r>
          </a:p>
          <a:p xmlns:a="http://schemas.openxmlformats.org/drawingml/2006/main">
            <a:r>
              <a:t/>
            </a:r>
          </a:p>
          <a:p xmlns:a="http://schemas.openxmlformats.org/drawingml/2006/main">
            <a:r>
              <a:t>This is the exact injected request. Alice's username remains a literal string. The password field becomes an object containing the not-equal operator. The vulnerable code passes both values directly into findOne. That produces a filter requiring username equal to Alice and password different from the empty string. Alice's synthetic stored password is non-empty, so her record matches. The application then creates a session without proof that the client knows her password. The object needs no JavaScript execution, and no quote-breaking payload. The database executes a supported predicate. The failure comes from the application's accepted input and its interpretation of the match.</a:t>
            </a:r>
          </a:p>
          <a:p xmlns:a="http://schemas.openxmlformats.org/drawingml/2006/main">
            <a:r>
              <a:t/>
            </a:r>
          </a:p>
          <a:p xmlns:a="http://schemas.openxmlformats.org/drawingml/2006/main">
            <a:r>
              <a:t>Sources: https://www.mongodb.com/docs/manual/reference/operator/query/ne/</a:t>
            </a:r>
          </a:p>
          <a:p xmlns:a="http://schemas.openxmlformats.org/drawingml/2006/main">
            <a:r>
              <a:t>https://cheatsheetseries.owasp.org/cheatsheets/NoSQL_Security_Cheat_Sheet.html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1:00</a:t>
            </a:r>
          </a:p>
          <a:p xmlns:a="http://schemas.openxmlformats.org/drawingml/2006/main">
            <a:r>
              <a:t/>
            </a:r>
          </a:p>
          <a:p xmlns:a="http://schemas.openxmlformats.org/drawingml/2006/main">
            <a:r>
              <a:t>The key distinction is an operator object versus operator-looking text. The object changes the query predicate. A string containing those same characters stays a literal value in this filter and fails to match. Our negative control confirms that difference. This example also depends on the application accepting objects and granting a session when a record matches. We use a known unique username, so we can say exactly which account the request selects. The toy reproduction stores synthetic plaintext passwords to expose this mechanism. The final path uses a separate hash-only account collection and verifies the password independently. A broad findOne query does not guarantee an administrator account.</a:t>
            </a:r>
          </a:p>
          <a:p xmlns:a="http://schemas.openxmlformats.org/drawingml/2006/main">
            <a:r>
              <a:t/>
            </a:r>
          </a:p>
          <a:p xmlns:a="http://schemas.openxmlformats.org/drawingml/2006/main">
            <a:r>
              <a:t>Sources: https://www.mongodb.com/docs/manual/reference/operator/query/ne/</a:t>
            </a:r>
          </a:p>
          <a:p xmlns:a="http://schemas.openxmlformats.org/drawingml/2006/main">
            <a:r>
              <a:t>https://cheatsheetseries.owasp.org/cheatsheets/Password_Storage_Cheat_Sheet.html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0:35</a:t>
            </a:r>
          </a:p>
          <a:p xmlns:a="http://schemas.openxmlformats.org/drawingml/2006/main">
            <a:r>
              <a:t/>
            </a:r>
          </a:p>
          <a:p xmlns:a="http://schemas.openxmlformats.org/drawingml/2006/main">
            <a:r>
              <a:t>We ran fifteen request cases across five configurations, twice: one hundred and fifty observations. Each records the login decision, protected access and actual database find commands. The fixtures include legitimate credentials, wrong strings and unexpected input shapes. Separate probes check the database roles and require MongoDB's specific scripting-disabled error. Repetition supports local reproducibility. It does not estimate deployed prevalence.</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1:30</a:t>
            </a:r>
          </a:p>
          <a:p xmlns:a="http://schemas.openxmlformats.org/drawingml/2006/main">
            <a:r>
              <a:t/>
            </a:r>
          </a:p>
          <a:p xmlns:a="http://schemas.openxmlformats.org/drawingml/2006/main">
            <a:r>
              <a:t>[0-15 seconds] This is our local synthetic lab. First, a wrong password fails and protected notes stay inaccessible. [15-40 seconds] We replace the password string with the operator object. The vulnerable path receives that predicate, matches Alice and creates a session. We can now read her synthetic private notes without supplying her password. [40-65 seconds] We keep the identical request and switch to the hardened path. It rejects the credential contract before constructing a filter or issuing a find command. [65-85 seconds] Finally, valid credentials still authenticate correctly after the fix. [85-90 seconds] The comparison identifies the boundary we restored: credential values remain values. If live playback fails, show the captured states in appendix slides 20 and 21 and narrate the same sequence.</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1:05</a:t>
            </a:r>
          </a:p>
          <a:p xmlns:a="http://schemas.openxmlformats.org/drawingml/2006/main">
            <a:r>
              <a:t/>
            </a:r>
          </a:p>
          <a:p xmlns:a="http://schemas.openxmlformats.org/drawingml/2006/main">
            <a:r>
              <a:t>Here are the observed results for the identical password-operator request. It creates an Alice session in the baseline, with scripting disabled, and with a database account restricted to reads. In each of those cases, one find command runs. Both validation paths reject the request with zero find commands. Every configuration still accepts valid string credentials and rejects the wrong string password. Disabling scripting addresses execution of JavaScript, while this attack uses a normal query operator. Read-only privileges block writes, but the login failure needs only a read. The isolated validation condition lets us attribute the change to type enforcement before discussing the complete authentication design.</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p>
          <a:p xmlns:a="http://schemas.openxmlformats.org/drawingml/2006/main">
            <a:r>
              <a:t/>
            </a:r>
          </a:p>
          <a:p xmlns:a="http://schemas.openxmlformats.org/drawingml/2006/main">
            <a:r>
              <a:t>The smallest causal fix rejects objects where the login contract requires strings. It preserves application control over field names and query structure. Our complete path goes further. It validates allowed fields, lengths and types, then looks up an account by its validated username. It retrieves that account from a separate collection containing no plaintext passwords. It verifies the supplied password against a salted scrypt hash before creating the session. The same password object therefore never reaches MongoDB. Password hashing protects credential storage, while contract validation protects query intent. We tested both invalid inputs and legitimate authentication. This local teaching path still does not represent a complete deployed identity system.</a:t>
            </a:r>
          </a:p>
          <a:p xmlns:a="http://schemas.openxmlformats.org/drawingml/2006/main">
            <a:r>
              <a:t/>
            </a:r>
          </a:p>
          <a:p xmlns:a="http://schemas.openxmlformats.org/drawingml/2006/main">
            <a:r>
              <a:t>Sources: https://cheatsheetseries.owasp.org/cheatsheets/NoSQL_Security_Cheat_Sheet.html</a:t>
            </a:r>
          </a:p>
          <a:p xmlns:a="http://schemas.openxmlformats.org/drawingml/2006/main">
            <a:r>
              <a:t>https://cheatsheetseries.owasp.org/cheatsheets/Password_Storage_Cheat_Sheet.html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p>
          <a:p xmlns:a="http://schemas.openxmlformats.org/drawingml/2006/main">
            <a:r>
              <a:t/>
            </a:r>
          </a:p>
          <a:p xmlns:a="http://schemas.openxmlformats.org/drawingml/2006/main">
            <a:r>
              <a:t>The distinction is what interprets the input. Our measured attack supplies an object that MongoDB interprets as a query predicate. In a different application design, a string may be concatenated into a JavaScript expression and passed to a server-side facility such as $where. Requiring a string would still accept that input type. The relevant control is to avoid constructing executable source from client input and disable unused scripting. We use this as a literature-based contrast. Our harmless fixed $where probe only checks the configuration. It is not a second injection experiment. This explains why defences must match the interpretation boundary.</a:t>
            </a:r>
          </a:p>
          <a:p xmlns:a="http://schemas.openxmlformats.org/drawingml/2006/main">
            <a:r>
              <a:t/>
            </a:r>
          </a:p>
          <a:p xmlns:a="http://schemas.openxmlformats.org/drawingml/2006/main">
            <a:r>
              <a:t>Sources: https://www.infoq.com/articles/nosql-injections-analysis/</a:t>
            </a:r>
          </a:p>
          <a:p xmlns:a="http://schemas.openxmlformats.org/drawingml/2006/main">
            <a:r>
              <a:t>https://www.mongodb.com/docs/v7.0/reference/operator/query/where/</a:t>
            </a:r>
          </a:p>
          <a:p xmlns:a="http://schemas.openxmlformats.org/drawingml/2006/main">
            <a:r>
              <a:t>https://cheatsheetseries.owasp.org/cheatsheets/NoSQL_Security_Cheat_Sheet.html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p>
          <a:p xmlns:a="http://schemas.openxmlformats.org/drawingml/2006/main">
            <a:r>
              <a:t/>
            </a:r>
          </a:p>
          <a:p xmlns:a="http://schemas.openxmlformats.org/drawingml/2006/main">
            <a:r>
              <a:t>Our measured result concerns operator objects: validation rejects them before a find command while legitimate login still works. The wider comparison explains the limit of that result. A string can satisfy a type check and still become executable source in another design. Each control needs a specified boundary and evidence that it enforces that boundary. Our experiment supports the credential-contract claim. The literature supports the JavaScript contrast. The engineering lesson is to retain application control over query or code structure, then test the resulting security decision and legitimate functionality.</a:t>
            </a:r>
          </a:p>
          <a:p xmlns:a="http://schemas.openxmlformats.org/drawingml/2006/main">
            <a:r>
              <a:t/>
            </a:r>
          </a:p>
          <a:p xmlns:a="http://schemas.openxmlformats.org/drawingml/2006/main">
            <a:r>
              <a:t>Sources: https://cheatsheetseries.owasp.org/cheatsheets/NoSQL_Security_Cheat_Sheet.html</a:t>
            </a:r>
          </a:p>
          <a:p xmlns:a="http://schemas.openxmlformats.org/drawingml/2006/main">
            <a:r>
              <a:t>https://www.infoq.com/articles/nosql-injections-analysis/</a:t>
            </a:r>
          </a:p>
          <a:p xmlns:a="http://schemas.openxmlformats.org/drawingml/2006/main">
            <a:r>
              <a:t>https://www.mongodb.com/docs/v7.0/reference/operator/query/where/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
            </a:r>
          </a:p>
          <a:p xmlns:a="http://schemas.openxmlformats.org/drawingml/2006/main">
            <a:r>
              <a:t>Our login contract can require strings, but search APIs sometimes need richer filters. The open problem is how to allow that flexibility while ensuring tenant or ownership restrictions remain in force. A bounded next investigation would compare an explicit operator-and-field allowlist with a query builder that keeps mandatory access predicates outside client control. Our current evidence covers one local stack, synthetic data and fifteen request cases. It does not estimate deployed prevalence or certify all endpoints. Our final recommendation follows from the mechanism we observed: keep the application's query structure under application control and test that unauthorised inputs never become proof of identity.</a:t>
            </a:r>
          </a:p>
          <a:p xmlns:a="http://schemas.openxmlformats.org/drawingml/2006/main">
            <a:r>
              <a:t/>
            </a:r>
          </a:p>
          <a:p xmlns:a="http://schemas.openxmlformats.org/drawingml/2006/main">
            <a:r>
              <a:t>Sources: https://cheatsheetseries.owasp.org/cheatsheets/NoSQL_Security_Cheat_Sheet.html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This is the environment recorded by the experiment runner. MongoDB 7.0.0 is the installed lab binary, not a recommendation to deploy this old patch. Two authenticated instances use separate project-local directories and loopback ports. All records are synthetic. MongoDB 8.0 documentation separately deprecates server-side JavaScript functions. That documentation is not a MongoDB 8 experiment, and deprecation does not establish removal. Docker is not required for the verified native execution path. The environment values come from nosql-lab/evidence/results.json.</a:t>
            </a:r>
          </a:p>
          <a:p xmlns:a="http://schemas.openxmlformats.org/drawingml/2006/main">
            <a:r>
              <a:t/>
            </a:r>
          </a:p>
          <a:p xmlns:a="http://schemas.openxmlformats.org/drawingml/2006/main">
            <a:r>
              <a:t>Sources: https://www.mongodb.com/docs/v8.0/core/server-side-javascript/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This is an excerpt of the deliberately vulnerable branch in src/server.mjs. The code selects a client according to the control configuration, then uses the body values as predicates. A truthy matched account directly establishes authentication in the toy modes. The hardened branch differs and appears in the next appendix. Filters in the evidence redact ordinary passwords but preserve the operator object. The database command monitor counts actual find events using each request's comment ID.</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This is a condensed excerpt. The full source validates exactly two allowed fields, non-empty strings and length limits. It queries a hash-only account collection. The hashing module uses a random salt and timing-safe comparison. An unknown account follows a dummy-hash verification path and receives the same invalid-credentials response. Sessions are short-lived local demonstration sessions, not a production identity platform. No supplied credential object reaches the database in this path.</a:t>
            </a:r>
          </a:p>
          <a:p xmlns:a="http://schemas.openxmlformats.org/drawingml/2006/main">
            <a:r>
              <a:t/>
            </a:r>
          </a:p>
          <a:p xmlns:a="http://schemas.openxmlformats.org/drawingml/2006/main">
            <a:r>
              <a:t>Sources: https://cheatsheetseries.owasp.org/cheatsheets/Password_Storage_Cheat_Sheet.html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Each cell summarises one configuration-case outcome. The two repetitions agree. Baseline, scripting-disabled and read-only configurations produce the same login statuses for these fixtures. Validated and fully hardened paths also agree on status, although their credential-verification designs differ. A 200 means the app created a session and the protected endpoint returned 200. A 401 means authentication failed and protected access failed. A 400 means contract rejection before a find command. See results.json and results.csv for every observation.</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Each cell summarises one configuration-case outcome. The two repetitions agree. Baseline, scripting-disabled and read-only configurations produce the same login statuses for these fixtures. Validated and fully hardened paths also agree on status, although their credential-verification designs differ. A 200 means the app created a session and the protected endpoint returned 200. A 401 means authentication failed and protected access failed. A 400 means contract rejection before a find command. See results.json and results.csv for every observation.</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The read-only service account is authenticated as labreader with the read role on the dedicated lab database. A permitted read succeeds. An attempted synthetic insertion fails with MongoDB code 13, Unauthorized. Separately, a harmless where predicate returns Alice on the scripting-enabled server and fails with code 6108304 on the no-scripting instance. These observations establish that our controls were active. The fixed where expression contains no attacker-controlled source construction. It establishes configuration behaviour, not a second injection exploit.</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Demo backup / Q&amp;A</a:t>
            </a:r>
          </a:p>
          <a:p xmlns:a="http://schemas.openxmlformats.org/drawingml/2006/main">
            <a:r>
              <a:t/>
            </a:r>
          </a:p>
          <a:p xmlns:a="http://schemas.openxmlformats.org/drawingml/2006/main">
            <a:r>
              <a:t>C04 / baseline: Alice session; protected notes accessible. These two regions are cropped captures of the actual local browser interaction. Complete screenshots of all four stages are included in nosql-lab/evidence/browser. The same operator-object request was submitted in both configurations. The appendix preserves the measured outcome if live playback fails.</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Demo backup / Q&amp;A</a:t>
            </a:r>
          </a:p>
          <a:p xmlns:a="http://schemas.openxmlformats.org/drawingml/2006/main">
            <a:r>
              <a:t/>
            </a:r>
          </a:p>
          <a:p xmlns:a="http://schemas.openxmlformats.org/drawingml/2006/main">
            <a:r>
              <a:t>C04 / hardened: no query; no session; protected notes denied. These two regions are cropped captures of the actual local browser interaction. Complete screenshots of all four stages are included in nosql-lab/evidence/browser. The same operator-object request was submitted in both configurations. The appendix preserves the measured outcome if live playback fails.</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Two repeated passes establish reproducibility within this recorded environment. We have not independently executed the lab on another physical machine, and we have not tested a different ODM, parser or MongoDB major version. The lab does not demonstrate a JavaScript injection exploit or measure attack prevalence, arbitrary admin access, data modification or denial of service. Slide 11 compares mechanisms conceptually. MongoDB 8.0 deprecation is a documentation claim, not a measured runtime result. Its complete hardened branch still needs deployment controls before use outside teaching. The next research question concerns enforceable filters when applications need client-selected query flexibility.</a:t>
            </a:r>
          </a:p>
          <a:p xmlns:a="http://schemas.openxmlformats.org/drawingml/2006/main">
            <a:r>
              <a:t/>
            </a:r>
          </a:p>
          <a:p xmlns:a="http://schemas.openxmlformats.org/drawingml/2006/main">
            <a:r>
              <a:t>Sources: https://www.mongodb.com/docs/v8.0/core/server-side-javascript/</a:t>
            </a:r>
          </a:p>
          <a:p xmlns:a="http://schemas.openxmlformats.org/drawingml/2006/main">
            <a:r>
              <a:t>https://www.mongodb.com/docs/v7.0/reference/operator/query/where/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Reference</a:t>
            </a:r>
          </a:p>
          <a:p xmlns:a="http://schemas.openxmlformats.org/drawingml/2006/main">
            <a:r>
              <a:t/>
            </a:r>
          </a:p>
          <a:p xmlns:a="http://schemas.openxmlformats.org/drawingml/2006/main">
            <a:r>
              <a:t>The SMU library proxy was inaccessible during preparation. The authors' accessible republication supplied the technical discussion. IBM Research confirms the publication identity. The republication has conflicting magazine boilerplate, so the bibliography follows the IBM record. Original page and figure references should be checked against the library copy if used.</a:t>
            </a:r>
          </a:p>
          <a:p xmlns:a="http://schemas.openxmlformats.org/drawingml/2006/main">
            <a:r>
              <a:t/>
            </a:r>
          </a:p>
          <a:p xmlns:a="http://schemas.openxmlformats.org/drawingml/2006/main">
            <a:r>
              <a:t>Sources: https://research.ibm.com/publications/analysis-and-mitigation-of-nosql-injections</a:t>
            </a:r>
          </a:p>
          <a:p xmlns:a="http://schemas.openxmlformats.org/drawingml/2006/main">
            <a:r>
              <a:t>https://www.infoq.com/articles/nosql-injections-analysis/</a:t>
            </a:r>
          </a:p>
          <a:p xmlns:a="http://schemas.openxmlformats.org/drawingml/2006/main">
            <a:r>
              <a:t>https://www.mongodb.com/docs/manual/reference/operator/query/ne/</a:t>
            </a:r>
          </a:p>
          <a:p xmlns:a="http://schemas.openxmlformats.org/drawingml/2006/main">
            <a:r>
              <a:t>https://www.mongodb.com/docs/v7.0/reference/operator/query/where/</a:t>
            </a:r>
          </a:p>
          <a:p xmlns:a="http://schemas.openxmlformats.org/drawingml/2006/main">
            <a:r>
              <a:t>https://www.mongodb.com/docs/v8.0/core/server-side-javascript/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Reference</a:t>
            </a:r>
          </a:p>
          <a:p xmlns:a="http://schemas.openxmlformats.org/drawingml/2006/main">
            <a:r>
              <a:t/>
            </a:r>
          </a:p>
          <a:p xmlns:a="http://schemas.openxmlformats.org/drawingml/2006/main">
            <a:r>
              <a:t>Source URLs are included in these notes and on relevant slides. Accessed during project preparation. The local result files include environment metadata, control observations and every case. Code, request fixtures, screenshots and run instructions accompany the deck.</a:t>
            </a:r>
          </a:p>
          <a:p xmlns:a="http://schemas.openxmlformats.org/drawingml/2006/main">
            <a:r>
              <a:t/>
            </a:r>
          </a:p>
          <a:p xmlns:a="http://schemas.openxmlformats.org/drawingml/2006/main">
            <a:r>
              <a:t>Sources: https://cheatsheetseries.owasp.org/cheatsheets/NoSQL_Security_Cheat_Sheet.html</a:t>
            </a:r>
          </a:p>
          <a:p xmlns:a="http://schemas.openxmlformats.org/drawingml/2006/main">
            <a:r>
              <a:t>https://cheatsheetseries.owasp.org/cheatsheets/Password_Storage_Cheat_Sheet.html</a:t>
            </a:r>
          </a:p>
          <a:p xmlns:a="http://schemas.openxmlformats.org/drawingml/2006/main">
            <a:r>
              <a:t>https://www.mongodb.com/docs/manual/reference/built-in-roles/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b7aceabc7d476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86e5352a4847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ba09d76f3b4b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9c1e859787643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c11ee72ba8b48e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0099476653b4f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80416F-0CCF-4413-AEE9-2FE66B2BF03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5C238B-B00D-429F-A17C-B147673D6A8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7718516-40EF-4B2B-B3FF-A5B6E76A0D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78844A-B08A-4C7C-8604-7C2588BF99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1475913-B9CB-4753-9004-FD6950C927C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BCB3E2-6C0C-449C-A50B-F66CB1766D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0DD4E3-3F60-4C89-A63E-EC00FF58F4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A44E751-0811-4467-A093-4E458E8C1F2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EF588E-AD7C-4EB4-A839-D60E66A9F0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560C48-11AD-4D09-8277-37FED5904E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877054735e43a0" /><Relationship Type="http://schemas.openxmlformats.org/officeDocument/2006/relationships/slideLayout" Target="/ppt/slideLayouts/slideLayout1.xml" Id="R800d23307f7143d3" /><Relationship Type="http://schemas.openxmlformats.org/officeDocument/2006/relationships/slideLayout" Target="/ppt/slideLayouts/slideLayout2.xml" Id="Re8d6e67ffe544f8e" /><Relationship Type="http://schemas.openxmlformats.org/officeDocument/2006/relationships/slideLayout" Target="/ppt/slideLayouts/slideLayout3.xml" Id="Rebd3e5740290478e" /><Relationship Type="http://schemas.openxmlformats.org/officeDocument/2006/relationships/slideLayout" Target="/ppt/slideLayouts/slideLayout4.xml" Id="R63316930b27b4bc7" /><Relationship Type="http://schemas.openxmlformats.org/officeDocument/2006/relationships/slideLayout" Target="/ppt/slideLayouts/slideLayout5.xml" Id="R9c2a76fa2d9546e5" /><Relationship Type="http://schemas.openxmlformats.org/officeDocument/2006/relationships/slideLayout" Target="/ppt/slideLayouts/slideLayout6.xml" Id="Rd827f9cb355348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0d23307f7143d3"/>
    <p:sldLayoutId xmlns:r="http://schemas.openxmlformats.org/officeDocument/2006/relationships" id="2147483650" r:id="Re8d6e67ffe544f8e"/>
    <p:sldLayoutId xmlns:r="http://schemas.openxmlformats.org/officeDocument/2006/relationships" id="2147483651" r:id="Rebd3e5740290478e"/>
    <p:sldLayoutId xmlns:r="http://schemas.openxmlformats.org/officeDocument/2006/relationships" id="2147483652" r:id="R63316930b27b4bc7"/>
    <p:sldLayoutId xmlns:r="http://schemas.openxmlformats.org/officeDocument/2006/relationships" id="2147483653" r:id="R9c2a76fa2d9546e5"/>
    <p:sldLayoutId xmlns:r="http://schemas.openxmlformats.org/officeDocument/2006/relationships" id="2147483654" r:id="Rd827f9cb355348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200ec2de3124bae" /><Relationship Type="http://schemas.openxmlformats.org/officeDocument/2006/relationships/notesSlide" Target="/ppt/notesSlides/notesSlide1.xml" Id="Rc87e19c415cb4e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27ac5e4a2274fbe" /><Relationship Type="http://schemas.openxmlformats.org/officeDocument/2006/relationships/notesSlide" Target="/ppt/notesSlides/notesSlide2.xml" Id="R6b9e1aa237a14b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b6ba8eda31049d7" /><Relationship Type="http://schemas.openxmlformats.org/officeDocument/2006/relationships/notesSlide" Target="/ppt/notesSlides/notesSlide3.xml" Id="R023dcbd6b9fc4f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5f51a631f574f19" /><Relationship Type="http://schemas.openxmlformats.org/officeDocument/2006/relationships/notesSlide" Target="/ppt/notesSlides/notesSlide4.xml" Id="R5ab1f2d49db644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7b83665109c4131" /><Relationship Type="http://schemas.openxmlformats.org/officeDocument/2006/relationships/notesSlide" Target="/ppt/notesSlides/notesSlide5.xml" Id="Rb1a3976ebc074b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176f0fdfe248f0" /><Relationship Type="http://schemas.openxmlformats.org/officeDocument/2006/relationships/notesSlide" Target="/ppt/notesSlides/notesSlide6.xml" Id="R86fe9faa920145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f36d26626774032" /><Relationship Type="http://schemas.openxmlformats.org/officeDocument/2006/relationships/notesSlide" Target="/ppt/notesSlides/notesSlide7.xml" Id="Rf5331113919643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557ce07aa9a4966" /><Relationship Type="http://schemas.openxmlformats.org/officeDocument/2006/relationships/hyperlink" Target="http://127.0.0.1:4400" TargetMode="External" Id="Ra7f71cf348b54e21" /><Relationship Type="http://schemas.openxmlformats.org/officeDocument/2006/relationships/notesSlide" Target="/ppt/notesSlides/notesSlide8.xml" Id="R302bca9db96145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6d3d235ccde4c3f" /><Relationship Type="http://schemas.openxmlformats.org/officeDocument/2006/relationships/notesSlide" Target="/ppt/notesSlides/notesSlide9.xml" Id="R9419b8e6007f41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af40a3d8b3a480e" /><Relationship Type="http://schemas.openxmlformats.org/officeDocument/2006/relationships/notesSlide" Target="/ppt/notesSlides/notesSlide10.xml" Id="R8a9af7ae4c934f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5942c7d917f4fe1" /><Relationship Type="http://schemas.openxmlformats.org/officeDocument/2006/relationships/notesSlide" Target="/ppt/notesSlides/notesSlide11.xml" Id="R83110db881f049c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3e4f258dc694651" /><Relationship Type="http://schemas.openxmlformats.org/officeDocument/2006/relationships/notesSlide" Target="/ppt/notesSlides/notesSlide12.xml" Id="Rde1e613244e9453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83fb185b00b4f2c" /><Relationship Type="http://schemas.openxmlformats.org/officeDocument/2006/relationships/notesSlide" Target="/ppt/notesSlides/notesSlide13.xml" Id="R029ffd1fcacf42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f5bb2f2c55946fc" /><Relationship Type="http://schemas.openxmlformats.org/officeDocument/2006/relationships/notesSlide" Target="/ppt/notesSlides/notesSlide14.xml" Id="Rb317b025df374a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c09d1b0bafc4945" /><Relationship Type="http://schemas.openxmlformats.org/officeDocument/2006/relationships/notesSlide" Target="/ppt/notesSlides/notesSlide15.xml" Id="R47edb8f2397a43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764abb1ce194aa2" /><Relationship Type="http://schemas.openxmlformats.org/officeDocument/2006/relationships/notesSlide" Target="/ppt/notesSlides/notesSlide16.xml" Id="R60863873fe89493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f42e8cd22254958" /><Relationship Type="http://schemas.openxmlformats.org/officeDocument/2006/relationships/notesSlide" Target="/ppt/notesSlides/notesSlide17.xml" Id="R16af4081c5794c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b0a81a7d3af43bd" /><Relationship Type="http://schemas.openxmlformats.org/officeDocument/2006/relationships/notesSlide" Target="/ppt/notesSlides/notesSlide18.xml" Id="Rbeb398c349b6458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677fbc194544fae" /><Relationship Type="http://schemas.openxmlformats.org/officeDocument/2006/relationships/notesSlide" Target="/ppt/notesSlides/notesSlide19.xml" Id="R30dbe0ccc22741a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c17b7a503494bf2" /><Relationship Type="http://schemas.openxmlformats.org/officeDocument/2006/relationships/image" Target="/ppt/media/image.jpeg" Id="R7b95a551ebda4de9" /><Relationship Type="http://schemas.openxmlformats.org/officeDocument/2006/relationships/image" Target="/ppt/media/image2.jpeg" Id="Rd6af8b2e97fd4dbf" /><Relationship Type="http://schemas.openxmlformats.org/officeDocument/2006/relationships/notesSlide" Target="/ppt/notesSlides/notesSlide20.xml" Id="Rf727df0ca21f4af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c46337b5b4b457e" /><Relationship Type="http://schemas.openxmlformats.org/officeDocument/2006/relationships/image" Target="/ppt/media/image3.jpeg" Id="Rd5336c63bcab48a9" /><Relationship Type="http://schemas.openxmlformats.org/officeDocument/2006/relationships/image" Target="/ppt/media/image4.jpeg" Id="R3e56784cdc1e4d5c" /><Relationship Type="http://schemas.openxmlformats.org/officeDocument/2006/relationships/notesSlide" Target="/ppt/notesSlides/notesSlide21.xml" Id="R1adcb91c45eb47c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aaa4552bda24fb5" /><Relationship Type="http://schemas.openxmlformats.org/officeDocument/2006/relationships/notesSlide" Target="/ppt/notesSlides/notesSlide22.xml" Id="R91c319ee8e3b480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f30a932ab1b421f" /><Relationship Type="http://schemas.openxmlformats.org/officeDocument/2006/relationships/notesSlide" Target="/ppt/notesSlides/notesSlide23.xml" Id="R69a91ad8599042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47e17755528462e" /><Relationship Type="http://schemas.openxmlformats.org/officeDocument/2006/relationships/notesSlide" Target="/ppt/notesSlides/notesSlide24.xml" Id="R9cac100d6c5041f8" /></Relationships>
</file>

<file path=ppt/slides/slide1.xml><?xml version="1.0" encoding="utf-8"?>
<p:sld xmlns:p="http://schemas.openxmlformats.org/presentationml/2006/main">
  <p:cSld>
    <p:bg>
      <p:bgPr>
        <a:solidFill xmlns:a="http://schemas.openxmlformats.org/drawingml/2006/main">
          <a:srgbClr val="17252C"/>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4BFAB83-C2C6-42C6-8745-1BED0207372E}"/>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NoSQL Injections</a:t>
            </a:r>
          </a:p>
        </p:txBody>
      </p:sp>
      <p:sp>
        <p:nvSpPr>
          <p:cNvPr id="2" name="">
            <a:extLst xmlns:a="http://schemas.openxmlformats.org/drawingml/2006/main">
              <a:ext uri="{FF2B5EF4-FFF2-40B4-BE49-F238E27FC236}">
                <a16:creationId xmlns:a16="http://schemas.microsoft.com/office/drawing/2014/main" id="{6D2DE6B1-D749-466A-8644-BB4F7FBE6DB4}"/>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C2CCD0"/>
                </a:solidFill>
                <a:latin typeface="Arial"/>
                <a:ea typeface="Arial"/>
                <a:cs typeface="Arial"/>
              </a:defRPr>
            </a:defPPr>
          </a:lstStyle>
          <a:p xmlns:a="http://schemas.openxmlformats.org/drawingml/2006/main">
            <a:pPr>
              <a:defRPr sz="1425" b="0">
                <a:solidFill>
                  <a:srgbClr val="C2CCD0"/>
                </a:solidFill>
                <a:latin typeface="Arial"/>
                <a:ea typeface="Arial"/>
                <a:cs typeface="Arial"/>
              </a:defRPr>
            </a:pPr>
            <a:r>
              <a:rPr sz="1425" b="0">
                <a:solidFill>
                  <a:srgbClr val="C2CCD0"/>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434215C-DDB6-4F24-BF02-852533041433}"/>
              </a:ext>
            </a:extLst>
          </p:cNvPr>
          <p:cNvSpPr>
            <a:spLocks xmlns:a="http://schemas.openxmlformats.org/drawingml/2006/main" noGrp="1"/>
          </p:cNvSpPr>
          <p:nvPr/>
        </p:nvSpPr>
        <p:spPr>
          <a:xfrm xmlns:a="http://schemas.openxmlformats.org/drawingml/2006/main">
            <a:off x="609600" y="180975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00" b="1">
                <a:solidFill>
                  <a:srgbClr val="FFFFFF"/>
                </a:solidFill>
                <a:latin typeface="Arial"/>
                <a:ea typeface="Arial"/>
                <a:cs typeface="Arial"/>
              </a:defRPr>
            </a:defPPr>
          </a:lstStyle>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When client input changes</a:t>
            </a:r>
          </a:p>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a database query</a:t>
            </a:r>
          </a:p>
        </p:txBody>
      </p:sp>
      <p:sp>
        <p:nvSpPr>
          <p:cNvPr id="4" name="">
            <a:extLst xmlns:a="http://schemas.openxmlformats.org/drawingml/2006/main">
              <a:ext uri="{FF2B5EF4-FFF2-40B4-BE49-F238E27FC236}">
                <a16:creationId xmlns:a16="http://schemas.microsoft.com/office/drawing/2014/main" id="{32464C1F-84AE-4F13-BAFA-141E7021030E}"/>
              </a:ext>
            </a:extLst>
          </p:cNvPr>
          <p:cNvSpPr>
            <a:spLocks xmlns:a="http://schemas.openxmlformats.org/drawingml/2006/main" noGrp="1"/>
          </p:cNvSpPr>
          <p:nvPr/>
        </p:nvSpPr>
        <p:spPr>
          <a:xfrm xmlns:a="http://schemas.openxmlformats.org/drawingml/2006/main">
            <a:off x="609600" y="41243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0">
                <a:solidFill>
                  <a:srgbClr val="C2CCD0"/>
                </a:solidFill>
                <a:latin typeface="Arial"/>
                <a:ea typeface="Arial"/>
                <a:cs typeface="Arial"/>
              </a:defRPr>
            </a:defPPr>
          </a:lstStyle>
          <a:p xmlns:a="http://schemas.openxmlformats.org/drawingml/2006/main">
            <a:pPr>
              <a:defRPr sz="2475" b="0">
                <a:solidFill>
                  <a:srgbClr val="C2CCD0"/>
                </a:solidFill>
                <a:latin typeface="Arial"/>
                <a:ea typeface="Arial"/>
                <a:cs typeface="Arial"/>
              </a:defRPr>
            </a:pPr>
            <a:r>
              <a:rPr sz="2475" b="0">
                <a:solidFill>
                  <a:srgbClr val="C2CCD0"/>
                </a:solidFill>
                <a:latin typeface="Arial"/>
                <a:ea typeface="Arial"/>
                <a:cs typeface="Arial"/>
              </a:rPr>
              <a:t>A controlled MongoDB investigation</a:t>
            </a:r>
          </a:p>
        </p:txBody>
      </p:sp>
      <p:sp>
        <p:nvSpPr>
          <p:cNvPr id="5" name="">
            <a:extLst xmlns:a="http://schemas.openxmlformats.org/drawingml/2006/main">
              <a:ext uri="{FF2B5EF4-FFF2-40B4-BE49-F238E27FC236}">
                <a16:creationId xmlns:a16="http://schemas.microsoft.com/office/drawing/2014/main" id="{425081B8-ADDB-4DA3-9C7C-78F189B444F1}"/>
              </a:ext>
            </a:extLst>
          </p:cNvPr>
          <p:cNvSpPr>
            <a:spLocks xmlns:a="http://schemas.openxmlformats.org/drawingml/2006/main" noGrp="1"/>
          </p:cNvSpPr>
          <p:nvPr/>
        </p:nvSpPr>
        <p:spPr>
          <a:xfrm xmlns:a="http://schemas.openxmlformats.org/drawingml/2006/main">
            <a:off x="609600" y="52863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C2CCD0"/>
                </a:solidFill>
                <a:latin typeface="Arial"/>
                <a:ea typeface="Arial"/>
                <a:cs typeface="Arial"/>
              </a:defRPr>
            </a:defPPr>
          </a:lstStyle>
          <a:p xmlns:a="http://schemas.openxmlformats.org/drawingml/2006/main">
            <a:pPr>
              <a:defRPr sz="1800" b="0">
                <a:solidFill>
                  <a:srgbClr val="C2CCD0"/>
                </a:solidFill>
                <a:latin typeface="Arial"/>
                <a:ea typeface="Arial"/>
                <a:cs typeface="Arial"/>
              </a:defRPr>
            </a:pPr>
            <a:r>
              <a:rPr sz="1800" b="0">
                <a:solidFill>
                  <a:srgbClr val="C2CCD0"/>
                </a:solidFill>
                <a:latin typeface="Arial"/>
                <a:ea typeface="Arial"/>
                <a:cs typeface="Arial"/>
              </a:rPr>
              <a:t>CS440 Group Project</a:t>
            </a:r>
          </a:p>
        </p:txBody>
      </p:sp>
    </p:spTree>
    <p:extLst>
      <p:ext uri="{BB962C8B-B14F-4D97-AF65-F5344CB8AC3E}">
        <p14:creationId xmlns:p14="http://schemas.microsoft.com/office/powerpoint/2010/main" val="1684267160"/>
      </p:ext>
    </p:extLst>
  </p:cSld>
</p:sld>
</file>

<file path=ppt/slides/slide2.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345928FF-DE96-42D6-8314-1849E3C713E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Documents and query predicates</a:t>
            </a:r>
          </a:p>
        </p:txBody>
      </p:sp>
      <p:sp>
        <p:nvSpPr>
          <p:cNvPr id="2" name="">
            <a:extLst xmlns:a="http://schemas.openxmlformats.org/drawingml/2006/main">
              <a:ext uri="{FF2B5EF4-FFF2-40B4-BE49-F238E27FC236}">
                <a16:creationId xmlns:a16="http://schemas.microsoft.com/office/drawing/2014/main" id="{841B48AF-81B2-4D14-9603-41A2AAA17CB1}"/>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EB30BAC-6073-4816-8845-B39FA1E328B4}"/>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1616A"/>
                </a:solidFill>
                <a:latin typeface="Arial"/>
                <a:ea typeface="Arial"/>
                <a:cs typeface="Arial"/>
              </a:defRPr>
            </a:defPPr>
          </a:lstStyle>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MongoDB $ne documentation; Ron et al., 2016</a:t>
            </a:r>
          </a:p>
        </p:txBody>
      </p:sp>
      <p:sp>
        <p:nvSpPr>
          <p:cNvPr id="4" name="">
            <a:extLst xmlns:a="http://schemas.openxmlformats.org/drawingml/2006/main">
              <a:ext uri="{FF2B5EF4-FFF2-40B4-BE49-F238E27FC236}">
                <a16:creationId xmlns:a16="http://schemas.microsoft.com/office/drawing/2014/main" id="{54B43CA0-FEDF-43C1-930F-65C24056ED6F}"/>
              </a:ext>
            </a:extLst>
          </p:cNvPr>
          <p:cNvSpPr>
            <a:spLocks xmlns:a="http://schemas.openxmlformats.org/drawingml/2006/main" noGrp="1"/>
          </p:cNvSpPr>
          <p:nvPr/>
        </p:nvSpPr>
        <p:spPr>
          <a:xfrm xmlns:a="http://schemas.openxmlformats.org/drawingml/2006/main">
            <a:off x="609600" y="16478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51616A"/>
                </a:solidFill>
                <a:latin typeface="Arial"/>
                <a:ea typeface="Arial"/>
                <a:cs typeface="Arial"/>
              </a:defRPr>
            </a:defPPr>
          </a:lstStyle>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SYNTHETIC ACCOUNT</a:t>
            </a:r>
          </a:p>
        </p:txBody>
      </p:sp>
      <p:sp>
        <p:nvSpPr>
          <p:cNvPr id="5" name="">
            <a:extLst xmlns:a="http://schemas.openxmlformats.org/drawingml/2006/main">
              <a:ext uri="{FF2B5EF4-FFF2-40B4-BE49-F238E27FC236}">
                <a16:creationId xmlns:a16="http://schemas.microsoft.com/office/drawing/2014/main" id="{E3A3A795-30D1-45B2-9410-9A992F3C486B}"/>
              </a:ext>
            </a:extLst>
          </p:cNvPr>
          <p:cNvSpPr>
            <a:spLocks xmlns:a="http://schemas.openxmlformats.org/drawingml/2006/main" noGrp="1"/>
          </p:cNvSpPr>
          <p:nvPr/>
        </p:nvSpPr>
        <p:spPr>
          <a:xfrm xmlns:a="http://schemas.openxmlformats.org/drawingml/2006/main">
            <a:off x="609600" y="20478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7252C"/>
                </a:solidFill>
                <a:latin typeface="Courier New"/>
                <a:ea typeface="Courier New"/>
                <a:cs typeface="Courier New"/>
              </a:defRPr>
            </a:defPPr>
          </a:lstStyle>
          <a:p xmlns:a="http://schemas.openxmlformats.org/drawingml/2006/main">
            <a:pPr>
              <a:defRPr sz="2400" b="0">
                <a:solidFill>
                  <a:srgbClr val="17252C"/>
                </a:solidFill>
                <a:latin typeface="Courier New"/>
                <a:ea typeface="Courier New"/>
                <a:cs typeface="Courier New"/>
              </a:defRPr>
            </a:pPr>
            <a:r>
              <a:rPr sz="2400" b="0">
                <a:solidFill>
                  <a:srgbClr val="17252C"/>
                </a:solidFill>
                <a:latin typeface="Courier New"/>
                <a:ea typeface="Courier New"/>
                <a:cs typeface="Courier New"/>
              </a:rPr>
              <a:t>{ username: "alice",</a:t>
            </a:r>
          </a:p>
          <a:p xmlns:a="http://schemas.openxmlformats.org/drawingml/2006/main">
            <a:pPr>
              <a:defRPr sz="2400" b="0">
                <a:solidFill>
                  <a:srgbClr val="17252C"/>
                </a:solidFill>
                <a:latin typeface="Courier New"/>
                <a:ea typeface="Courier New"/>
                <a:cs typeface="Courier New"/>
              </a:defRPr>
            </a:pPr>
            <a:r>
              <a:rPr sz="2400" b="0">
                <a:solidFill>
                  <a:srgbClr val="17252C"/>
                </a:solidFill>
                <a:latin typeface="Courier New"/>
                <a:ea typeface="Courier New"/>
                <a:cs typeface="Courier New"/>
              </a:rPr>
              <a:t>  role: "student" }</a:t>
            </a:r>
          </a:p>
        </p:txBody>
      </p:sp>
      <p:sp>
        <p:nvSpPr>
          <p:cNvPr id="6" name="">
            <a:extLst xmlns:a="http://schemas.openxmlformats.org/drawingml/2006/main">
              <a:ext uri="{FF2B5EF4-FFF2-40B4-BE49-F238E27FC236}">
                <a16:creationId xmlns:a16="http://schemas.microsoft.com/office/drawing/2014/main" id="{8AB8CAEE-96F3-4860-8D6D-4C2849E0D3F6}"/>
              </a:ext>
            </a:extLst>
          </p:cNvPr>
          <p:cNvSpPr>
            <a:spLocks xmlns:a="http://schemas.openxmlformats.org/drawingml/2006/main" noGrp="1"/>
          </p:cNvSpPr>
          <p:nvPr/>
        </p:nvSpPr>
        <p:spPr>
          <a:xfrm xmlns:a="http://schemas.openxmlformats.org/drawingml/2006/main">
            <a:off x="609600" y="33623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75A80"/>
                </a:solidFill>
                <a:latin typeface="Arial"/>
                <a:ea typeface="Arial"/>
                <a:cs typeface="Arial"/>
              </a:defRPr>
            </a:defPPr>
          </a:lstStyle>
          <a:p xmlns:a="http://schemas.openxmlformats.org/drawingml/2006/main">
            <a:pPr>
              <a:defRPr sz="1725" b="1">
                <a:solidFill>
                  <a:srgbClr val="275A80"/>
                </a:solidFill>
                <a:latin typeface="Arial"/>
                <a:ea typeface="Arial"/>
                <a:cs typeface="Arial"/>
              </a:defRPr>
            </a:pPr>
            <a:r>
              <a:rPr sz="1725" b="1">
                <a:solidFill>
                  <a:srgbClr val="275A80"/>
                </a:solidFill>
                <a:latin typeface="Arial"/>
                <a:ea typeface="Arial"/>
                <a:cs typeface="Arial"/>
              </a:rPr>
              <a:t>LITERAL EQUALITY</a:t>
            </a:r>
          </a:p>
        </p:txBody>
      </p:sp>
      <p:sp>
        <p:nvSpPr>
          <p:cNvPr id="7" name="">
            <a:extLst xmlns:a="http://schemas.openxmlformats.org/drawingml/2006/main">
              <a:ext uri="{FF2B5EF4-FFF2-40B4-BE49-F238E27FC236}">
                <a16:creationId xmlns:a16="http://schemas.microsoft.com/office/drawing/2014/main" id="{FFDDAFF1-AD9D-4C83-802C-C5314FA4A71F}"/>
              </a:ext>
            </a:extLst>
          </p:cNvPr>
          <p:cNvSpPr>
            <a:spLocks xmlns:a="http://schemas.openxmlformats.org/drawingml/2006/main" noGrp="1"/>
          </p:cNvSpPr>
          <p:nvPr/>
        </p:nvSpPr>
        <p:spPr>
          <a:xfrm xmlns:a="http://schemas.openxmlformats.org/drawingml/2006/main">
            <a:off x="609600" y="387667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7252C"/>
                </a:solidFill>
                <a:latin typeface="Courier New"/>
                <a:ea typeface="Courier New"/>
                <a:cs typeface="Courier New"/>
              </a:defRPr>
            </a:defPPr>
          </a:lstStyle>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username: "alice" }</a:t>
            </a:r>
          </a:p>
        </p:txBody>
      </p:sp>
      <p:sp>
        <p:nvSpPr>
          <p:cNvPr id="8" name="">
            <a:extLst xmlns:a="http://schemas.openxmlformats.org/drawingml/2006/main">
              <a:ext uri="{FF2B5EF4-FFF2-40B4-BE49-F238E27FC236}">
                <a16:creationId xmlns:a16="http://schemas.microsoft.com/office/drawing/2014/main" id="{46C2C3EE-ED73-46F1-B196-4BF6BB12F323}"/>
              </a:ext>
            </a:extLst>
          </p:cNvPr>
          <p:cNvSpPr>
            <a:spLocks xmlns:a="http://schemas.openxmlformats.org/drawingml/2006/main" noGrp="1"/>
          </p:cNvSpPr>
          <p:nvPr/>
        </p:nvSpPr>
        <p:spPr>
          <a:xfrm xmlns:a="http://schemas.openxmlformats.org/drawingml/2006/main">
            <a:off x="6381750" y="3362325"/>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AF3047"/>
                </a:solidFill>
                <a:latin typeface="Arial"/>
                <a:ea typeface="Arial"/>
                <a:cs typeface="Arial"/>
              </a:defRPr>
            </a:defPPr>
          </a:lstStyle>
          <a:p xmlns:a="http://schemas.openxmlformats.org/drawingml/2006/main">
            <a:pPr>
              <a:defRPr sz="1725" b="1">
                <a:solidFill>
                  <a:srgbClr val="AF3047"/>
                </a:solidFill>
                <a:latin typeface="Arial"/>
                <a:ea typeface="Arial"/>
                <a:cs typeface="Arial"/>
              </a:defRPr>
            </a:pPr>
            <a:r>
              <a:rPr sz="1725" b="1">
                <a:solidFill>
                  <a:srgbClr val="AF3047"/>
                </a:solidFill>
                <a:latin typeface="Arial"/>
                <a:ea typeface="Arial"/>
                <a:cs typeface="Arial"/>
              </a:rPr>
              <a:t>OPERATOR PREDICATE</a:t>
            </a:r>
          </a:p>
        </p:txBody>
      </p:sp>
      <p:sp>
        <p:nvSpPr>
          <p:cNvPr id="9" name="">
            <a:extLst xmlns:a="http://schemas.openxmlformats.org/drawingml/2006/main">
              <a:ext uri="{FF2B5EF4-FFF2-40B4-BE49-F238E27FC236}">
                <a16:creationId xmlns:a16="http://schemas.microsoft.com/office/drawing/2014/main" id="{7AF0D5DF-E29C-46A9-A5D6-FA66700D9403}"/>
              </a:ext>
            </a:extLst>
          </p:cNvPr>
          <p:cNvSpPr>
            <a:spLocks xmlns:a="http://schemas.openxmlformats.org/drawingml/2006/main" noGrp="1"/>
          </p:cNvSpPr>
          <p:nvPr/>
        </p:nvSpPr>
        <p:spPr>
          <a:xfrm xmlns:a="http://schemas.openxmlformats.org/drawingml/2006/main">
            <a:off x="6381750" y="3876675"/>
            <a:ext cx="519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AF3047"/>
                </a:solidFill>
                <a:latin typeface="Courier New"/>
                <a:ea typeface="Courier New"/>
                <a:cs typeface="Courier New"/>
              </a:defRPr>
            </a:defPPr>
          </a:lstStyle>
          <a:p xmlns:a="http://schemas.openxmlformats.org/drawingml/2006/main">
            <a:pPr>
              <a:defRPr sz="2250" b="0">
                <a:solidFill>
                  <a:srgbClr val="AF3047"/>
                </a:solidFill>
                <a:latin typeface="Courier New"/>
                <a:ea typeface="Courier New"/>
                <a:cs typeface="Courier New"/>
              </a:defRPr>
            </a:pPr>
            <a:r>
              <a:rPr sz="2250" b="0">
                <a:solidFill>
                  <a:srgbClr val="AF3047"/>
                </a:solidFill>
                <a:latin typeface="Courier New"/>
                <a:ea typeface="Courier New"/>
                <a:cs typeface="Courier New"/>
              </a:rPr>
              <a:t>{ username: { $ne: "" } }</a:t>
            </a:r>
          </a:p>
        </p:txBody>
      </p:sp>
      <p:sp>
        <p:nvSpPr>
          <p:cNvPr id="10" name="">
            <a:extLst xmlns:a="http://schemas.openxmlformats.org/drawingml/2006/main">
              <a:ext uri="{FF2B5EF4-FFF2-40B4-BE49-F238E27FC236}">
                <a16:creationId xmlns:a16="http://schemas.microsoft.com/office/drawing/2014/main" id="{1AA12B28-D234-41E7-B88D-6A8340F6AEB1}"/>
              </a:ext>
            </a:extLst>
          </p:cNvPr>
          <p:cNvSpPr>
            <a:spLocks xmlns:a="http://schemas.openxmlformats.org/drawingml/2006/main" noGrp="1"/>
          </p:cNvSpPr>
          <p:nvPr/>
        </p:nvSpPr>
        <p:spPr>
          <a:xfrm xmlns:a="http://schemas.openxmlformats.org/drawingml/2006/main">
            <a:off x="609600" y="51244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1616A"/>
                </a:solidFill>
                <a:latin typeface="Arial"/>
                <a:ea typeface="Arial"/>
                <a:cs typeface="Arial"/>
              </a:defRPr>
            </a:defPPr>
          </a:lstStyle>
          <a:p xmlns:a="http://schemas.openxmlformats.org/drawingml/2006/main">
            <a:pPr>
              <a:defRPr sz="2025" b="0">
                <a:solidFill>
                  <a:srgbClr val="51616A"/>
                </a:solidFill>
                <a:latin typeface="Arial"/>
                <a:ea typeface="Arial"/>
                <a:cs typeface="Arial"/>
              </a:defRPr>
            </a:pPr>
            <a:r>
              <a:rPr sz="2025" b="0">
                <a:solidFill>
                  <a:srgbClr val="51616A"/>
                </a:solidFill>
                <a:latin typeface="Arial"/>
                <a:ea typeface="Arial"/>
                <a:cs typeface="Arial"/>
              </a:rPr>
              <a:t>NoSQL families: document, key-value, graph and wide-column</a:t>
            </a:r>
          </a:p>
          <a:p xmlns:a="http://schemas.openxmlformats.org/drawingml/2006/main">
            <a:pPr>
              <a:defRPr sz="2025" b="0">
                <a:solidFill>
                  <a:srgbClr val="51616A"/>
                </a:solidFill>
                <a:latin typeface="Arial"/>
                <a:ea typeface="Arial"/>
                <a:cs typeface="Arial"/>
              </a:defRPr>
            </a:pPr>
            <a:r>
              <a:rPr sz="2025" b="0">
                <a:solidFill>
                  <a:srgbClr val="51616A"/>
                </a:solidFill>
                <a:latin typeface="Arial"/>
                <a:ea typeface="Arial"/>
                <a:cs typeface="Arial"/>
              </a:rPr>
              <a:t>Flexible records and distributed scaling support different workloads</a:t>
            </a:r>
          </a:p>
        </p:txBody>
      </p:sp>
    </p:spTree>
    <p:extLst>
      <p:ext uri="{BB962C8B-B14F-4D97-AF65-F5344CB8AC3E}">
        <p14:creationId xmlns:p14="http://schemas.microsoft.com/office/powerpoint/2010/main" val="972757580"/>
      </p:ext>
    </p:extLst>
  </p:cSld>
</p:sld>
</file>

<file path=ppt/slides/slide3.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3131C210-E0BF-4C2E-ABAA-722F6C748F97}"/>
              </a:ext>
            </a:extLst>
          </p:cNvPr>
          <p:cNvCxnSpPr>
            <a:stCxn xmlns:a="http://schemas.openxmlformats.org/drawingml/2006/main" id="4" idx="3"/>
            <a:endCxn xmlns:a="http://schemas.openxmlformats.org/drawingml/2006/main" id="5" idx="1"/>
          </p:cNvCxnSpPr>
          <p:nvPr/>
        </p:nvCxnSpPr>
        <p:spPr>
          <a:xfrm xmlns:a="http://schemas.openxmlformats.org/drawingml/2006/main">
            <a:off x="7286625" y="2724150"/>
            <a:ext cx="952500" cy="0"/>
          </a:xfrm>
          <a:prstGeom xmlns:a="http://schemas.openxmlformats.org/drawingml/2006/main" prst="straightConnector1">
            <a:avLst/>
          </a:prstGeom>
          <a:ln xmlns:a="http://schemas.openxmlformats.org/drawingml/2006/main" w="19050">
            <a:solidFill>
              <a:srgbClr val="51616A"/>
            </a:solidFill>
            <a:tailEnd type="triangle" w="sm" len="sm"/>
          </a:ln>
        </p:spPr>
      </p:cxnSp>
      <p:cxnSp>
        <p:nvCxnSpPr>
          <p:cNvPr id="6" name="">
            <a:extLst xmlns:a="http://schemas.openxmlformats.org/drawingml/2006/main">
              <a:ext uri="{FF2B5EF4-FFF2-40B4-BE49-F238E27FC236}">
                <a16:creationId xmlns:a16="http://schemas.microsoft.com/office/drawing/2014/main" id="{B9012734-8780-4BC9-A08F-138D47AFDDD5}"/>
              </a:ext>
            </a:extLst>
          </p:cNvPr>
          <p:cNvCxnSpPr>
            <a:stCxn xmlns:a="http://schemas.openxmlformats.org/drawingml/2006/main" id="3" idx="3"/>
            <a:endCxn xmlns:a="http://schemas.openxmlformats.org/drawingml/2006/main" id="4" idx="1"/>
          </p:cNvCxnSpPr>
          <p:nvPr/>
        </p:nvCxnSpPr>
        <p:spPr>
          <a:xfrm xmlns:a="http://schemas.openxmlformats.org/drawingml/2006/main">
            <a:off x="2990850" y="2724150"/>
            <a:ext cx="962025" cy="0"/>
          </a:xfrm>
          <a:prstGeom xmlns:a="http://schemas.openxmlformats.org/drawingml/2006/main" prst="straightConnector1">
            <a:avLst/>
          </a:prstGeom>
          <a:ln xmlns:a="http://schemas.openxmlformats.org/drawingml/2006/main" w="19050">
            <a:solidFill>
              <a:srgbClr val="51616A"/>
            </a:solidFill>
            <a:tailEnd type="triangle" w="sm" len="sm"/>
          </a:ln>
        </p:spPr>
      </p:cxnSp>
      <p:sp>
        <p:nvSpPr>
          <p:cNvPr id="10" name="slide-title">
            <a:extLst xmlns:a="http://schemas.openxmlformats.org/drawingml/2006/main">
              <a:ext uri="{FF2B5EF4-FFF2-40B4-BE49-F238E27FC236}">
                <a16:creationId xmlns:a16="http://schemas.microsoft.com/office/drawing/2014/main" id="{7EA318F2-73B4-4BA2-8E8D-6A528B9E61F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Application architecture and threat model</a:t>
            </a:r>
          </a:p>
        </p:txBody>
      </p:sp>
      <p:sp>
        <p:nvSpPr>
          <p:cNvPr id="2" name="">
            <a:extLst xmlns:a="http://schemas.openxmlformats.org/drawingml/2006/main">
              <a:ext uri="{FF2B5EF4-FFF2-40B4-BE49-F238E27FC236}">
                <a16:creationId xmlns:a16="http://schemas.microsoft.com/office/drawing/2014/main" id="{955601CC-260E-4A49-872F-88DE01E492B4}"/>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0BD4CCA2-FD10-42E5-9718-4E49838B1DED}"/>
              </a:ext>
            </a:extLst>
          </p:cNvPr>
          <p:cNvSpPr>
            <a:spLocks xmlns:a="http://schemas.openxmlformats.org/drawingml/2006/main" noGrp="1"/>
          </p:cNvSpPr>
          <p:nvPr/>
        </p:nvSpPr>
        <p:spPr>
          <a:xfrm xmlns:a="http://schemas.openxmlformats.org/drawingml/2006/main">
            <a:off x="609600" y="2190750"/>
            <a:ext cx="2381250" cy="1066800"/>
          </a:xfrm>
          <a:prstGeom xmlns:a="http://schemas.openxmlformats.org/drawingml/2006/main" prst="rect">
            <a:avLst/>
          </a:prstGeom>
          <a:noFill xmlns:a="http://schemas.openxmlformats.org/drawingml/2006/main"/>
          <a:ln xmlns:a="http://schemas.openxmlformats.org/drawingml/2006/main" w="19050">
            <a:solidFill>
              <a:srgbClr val="AF3047"/>
            </a:solidFill>
          </a:ln>
        </p:spPr>
        <p:txBody>
          <a:bodyPr xmlns:a="http://schemas.openxmlformats.org/drawingml/2006/main" lIns="76200" tIns="76200" rIns="76200" bIns="76200" anchor="ctr">
            <a:noAutofit/>
          </a:bodyPr>
          <a:lstStyle xmlns:a="http://schemas.openxmlformats.org/drawingml/2006/main">
            <a:defPPr algn="ctr">
              <a:defRPr sz="1950" b="1">
                <a:solidFill>
                  <a:srgbClr val="AF3047"/>
                </a:solidFill>
                <a:latin typeface="Arial"/>
                <a:ea typeface="Arial"/>
                <a:cs typeface="Arial"/>
              </a:defRPr>
            </a:defPPr>
          </a:lstStyle>
          <a:p xmlns:a="http://schemas.openxmlformats.org/drawingml/2006/main">
            <a:pPr algn="ctr">
              <a:defRPr sz="1950" b="1">
                <a:solidFill>
                  <a:srgbClr val="AF3047"/>
                </a:solidFill>
                <a:latin typeface="Arial"/>
                <a:ea typeface="Arial"/>
                <a:cs typeface="Arial"/>
              </a:defRPr>
            </a:pPr>
            <a:r>
              <a:rPr sz="1950" b="1">
                <a:solidFill>
                  <a:srgbClr val="AF3047"/>
                </a:solidFill>
                <a:latin typeface="Arial"/>
                <a:ea typeface="Arial"/>
                <a:cs typeface="Arial"/>
              </a:rPr>
              <a:t>Client</a:t>
            </a:r>
          </a:p>
          <a:p xmlns:a="http://schemas.openxmlformats.org/drawingml/2006/main">
            <a:pPr algn="ctr">
              <a:defRPr sz="1950" b="1">
                <a:solidFill>
                  <a:srgbClr val="AF3047"/>
                </a:solidFill>
                <a:latin typeface="Arial"/>
                <a:ea typeface="Arial"/>
                <a:cs typeface="Arial"/>
              </a:defRPr>
            </a:pPr>
            <a:r>
              <a:rPr sz="1950" b="1">
                <a:solidFill>
                  <a:srgbClr val="AF3047"/>
                </a:solidFill>
                <a:latin typeface="Arial"/>
                <a:ea typeface="Arial"/>
                <a:cs typeface="Arial"/>
              </a:rPr>
              <a:t>JSON request</a:t>
            </a:r>
          </a:p>
        </p:txBody>
      </p:sp>
      <p:sp>
        <p:nvSpPr>
          <p:cNvPr id="4" name="">
            <a:extLst xmlns:a="http://schemas.openxmlformats.org/drawingml/2006/main">
              <a:ext uri="{FF2B5EF4-FFF2-40B4-BE49-F238E27FC236}">
                <a16:creationId xmlns:a16="http://schemas.microsoft.com/office/drawing/2014/main" id="{5BE338D1-11CB-477D-A4D5-476BC51EC313}"/>
              </a:ext>
            </a:extLst>
          </p:cNvPr>
          <p:cNvSpPr>
            <a:spLocks xmlns:a="http://schemas.openxmlformats.org/drawingml/2006/main" noGrp="1"/>
          </p:cNvSpPr>
          <p:nvPr/>
        </p:nvSpPr>
        <p:spPr>
          <a:xfrm xmlns:a="http://schemas.openxmlformats.org/drawingml/2006/main">
            <a:off x="3952875" y="2190750"/>
            <a:ext cx="3333750" cy="1066800"/>
          </a:xfrm>
          <a:prstGeom xmlns:a="http://schemas.openxmlformats.org/drawingml/2006/main" prst="rect">
            <a:avLst/>
          </a:prstGeom>
          <a:noFill xmlns:a="http://schemas.openxmlformats.org/drawingml/2006/main"/>
          <a:ln xmlns:a="http://schemas.openxmlformats.org/drawingml/2006/main" w="19050">
            <a:solidFill>
              <a:srgbClr val="275A80"/>
            </a:solidFill>
          </a:ln>
        </p:spPr>
        <p:txBody>
          <a:bodyPr xmlns:a="http://schemas.openxmlformats.org/drawingml/2006/main" lIns="76200" tIns="76200" rIns="76200" bIns="76200" anchor="ctr">
            <a:noAutofit/>
          </a:bodyPr>
          <a:lstStyle xmlns:a="http://schemas.openxmlformats.org/drawingml/2006/main">
            <a:defPPr algn="ctr">
              <a:defRPr sz="1950" b="1">
                <a:solidFill>
                  <a:srgbClr val="275A80"/>
                </a:solidFill>
                <a:latin typeface="Arial"/>
                <a:ea typeface="Arial"/>
                <a:cs typeface="Arial"/>
              </a:defRPr>
            </a:defPPr>
          </a:lstStyle>
          <a:p xmlns:a="http://schemas.openxmlformats.org/drawingml/2006/main">
            <a:pPr algn="ctr">
              <a:defRPr sz="1950" b="1">
                <a:solidFill>
                  <a:srgbClr val="275A80"/>
                </a:solidFill>
                <a:latin typeface="Arial"/>
                <a:ea typeface="Arial"/>
                <a:cs typeface="Arial"/>
              </a:defRPr>
            </a:pPr>
            <a:r>
              <a:rPr sz="1950" b="1">
                <a:solidFill>
                  <a:srgbClr val="275A80"/>
                </a:solidFill>
                <a:latin typeface="Arial"/>
                <a:ea typeface="Arial"/>
                <a:cs typeface="Arial"/>
              </a:rPr>
              <a:t>Application</a:t>
            </a:r>
          </a:p>
          <a:p xmlns:a="http://schemas.openxmlformats.org/drawingml/2006/main">
            <a:pPr algn="ctr">
              <a:defRPr sz="1950" b="1">
                <a:solidFill>
                  <a:srgbClr val="275A80"/>
                </a:solidFill>
                <a:latin typeface="Arial"/>
                <a:ea typeface="Arial"/>
                <a:cs typeface="Arial"/>
              </a:defRPr>
            </a:pPr>
            <a:r>
              <a:rPr sz="1950" b="1">
                <a:solidFill>
                  <a:srgbClr val="275A80"/>
                </a:solidFill>
                <a:latin typeface="Arial"/>
                <a:ea typeface="Arial"/>
                <a:cs typeface="Arial"/>
              </a:rPr>
              <a:t>parser + filter</a:t>
            </a:r>
          </a:p>
        </p:txBody>
      </p:sp>
      <p:sp>
        <p:nvSpPr>
          <p:cNvPr id="5" name="">
            <a:extLst xmlns:a="http://schemas.openxmlformats.org/drawingml/2006/main">
              <a:ext uri="{FF2B5EF4-FFF2-40B4-BE49-F238E27FC236}">
                <a16:creationId xmlns:a16="http://schemas.microsoft.com/office/drawing/2014/main" id="{54251DB7-6AB9-4FB3-9AA8-E04CD8DDCE99}"/>
              </a:ext>
            </a:extLst>
          </p:cNvPr>
          <p:cNvSpPr>
            <a:spLocks xmlns:a="http://schemas.openxmlformats.org/drawingml/2006/main" noGrp="1"/>
          </p:cNvSpPr>
          <p:nvPr/>
        </p:nvSpPr>
        <p:spPr>
          <a:xfrm xmlns:a="http://schemas.openxmlformats.org/drawingml/2006/main">
            <a:off x="8239125" y="2190750"/>
            <a:ext cx="3333750" cy="1066800"/>
          </a:xfrm>
          <a:prstGeom xmlns:a="http://schemas.openxmlformats.org/drawingml/2006/main" prst="rect">
            <a:avLst/>
          </a:prstGeom>
          <a:noFill xmlns:a="http://schemas.openxmlformats.org/drawingml/2006/main"/>
          <a:ln xmlns:a="http://schemas.openxmlformats.org/drawingml/2006/main" w="19050">
            <a:solidFill>
              <a:srgbClr val="17252C"/>
            </a:solidFill>
          </a:ln>
        </p:spPr>
        <p:txBody>
          <a:bodyPr xmlns:a="http://schemas.openxmlformats.org/drawingml/2006/main" lIns="76200" tIns="76200" rIns="76200" bIns="76200" anchor="ctr">
            <a:noAutofit/>
          </a:bodyPr>
          <a:lstStyle xmlns:a="http://schemas.openxmlformats.org/drawingml/2006/main">
            <a:defPPr algn="ctr">
              <a:defRPr sz="1950" b="1">
                <a:solidFill>
                  <a:srgbClr val="17252C"/>
                </a:solidFill>
                <a:latin typeface="Arial"/>
                <a:ea typeface="Arial"/>
                <a:cs typeface="Arial"/>
              </a:defRPr>
            </a:defPPr>
          </a:lstStyle>
          <a:p xmlns:a="http://schemas.openxmlformats.org/drawingml/2006/main">
            <a:pPr algn="ctr">
              <a:defRPr sz="1950" b="1">
                <a:solidFill>
                  <a:srgbClr val="17252C"/>
                </a:solidFill>
                <a:latin typeface="Arial"/>
                <a:ea typeface="Arial"/>
                <a:cs typeface="Arial"/>
              </a:defRPr>
            </a:pPr>
            <a:r>
              <a:rPr sz="1950" b="1">
                <a:solidFill>
                  <a:srgbClr val="17252C"/>
                </a:solidFill>
                <a:latin typeface="Arial"/>
                <a:ea typeface="Arial"/>
                <a:cs typeface="Arial"/>
              </a:rPr>
              <a:t>MongoDB</a:t>
            </a:r>
          </a:p>
          <a:p xmlns:a="http://schemas.openxmlformats.org/drawingml/2006/main">
            <a:pPr algn="ctr">
              <a:defRPr sz="1950" b="1">
                <a:solidFill>
                  <a:srgbClr val="17252C"/>
                </a:solidFill>
                <a:latin typeface="Arial"/>
                <a:ea typeface="Arial"/>
                <a:cs typeface="Arial"/>
              </a:defRPr>
            </a:pPr>
            <a:r>
              <a:rPr sz="1950" b="1">
                <a:solidFill>
                  <a:srgbClr val="17252C"/>
                </a:solidFill>
                <a:latin typeface="Arial"/>
                <a:ea typeface="Arial"/>
                <a:cs typeface="Arial"/>
              </a:rPr>
              <a:t>service account</a:t>
            </a:r>
          </a:p>
        </p:txBody>
      </p:sp>
      <p:sp>
        <p:nvSpPr>
          <p:cNvPr id="8" name="">
            <a:extLst xmlns:a="http://schemas.openxmlformats.org/drawingml/2006/main">
              <a:ext uri="{FF2B5EF4-FFF2-40B4-BE49-F238E27FC236}">
                <a16:creationId xmlns:a16="http://schemas.microsoft.com/office/drawing/2014/main" id="{046AD8A5-CE39-4EE8-9C91-3B5ECFB1BE10}"/>
              </a:ext>
            </a:extLst>
          </p:cNvPr>
          <p:cNvSpPr>
            <a:spLocks xmlns:a="http://schemas.openxmlformats.org/drawingml/2006/main" noGrp="1"/>
          </p:cNvSpPr>
          <p:nvPr/>
        </p:nvSpPr>
        <p:spPr>
          <a:xfrm xmlns:a="http://schemas.openxmlformats.org/drawingml/2006/main">
            <a:off x="609600" y="39147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AF3047"/>
                </a:solidFill>
                <a:latin typeface="Arial"/>
                <a:ea typeface="Arial"/>
                <a:cs typeface="Arial"/>
              </a:defRPr>
            </a:defPPr>
          </a:lstStyle>
          <a:p xmlns:a="http://schemas.openxmlformats.org/drawingml/2006/main">
            <a:pPr>
              <a:defRPr sz="2475" b="1">
                <a:solidFill>
                  <a:srgbClr val="AF3047"/>
                </a:solidFill>
                <a:latin typeface="Arial"/>
                <a:ea typeface="Arial"/>
                <a:cs typeface="Arial"/>
              </a:defRPr>
            </a:pPr>
            <a:r>
              <a:rPr sz="2475" b="1">
                <a:solidFill>
                  <a:srgbClr val="AF3047"/>
                </a:solidFill>
                <a:latin typeface="Arial"/>
                <a:ea typeface="Arial"/>
                <a:cs typeface="Arial"/>
              </a:rPr>
              <a:t>Trust boundary: the app accepts a value as a database predicate</a:t>
            </a:r>
          </a:p>
        </p:txBody>
      </p:sp>
      <p:sp>
        <p:nvSpPr>
          <p:cNvPr id="9" name="">
            <a:extLst xmlns:a="http://schemas.openxmlformats.org/drawingml/2006/main">
              <a:ext uri="{FF2B5EF4-FFF2-40B4-BE49-F238E27FC236}">
                <a16:creationId xmlns:a16="http://schemas.microsoft.com/office/drawing/2014/main" id="{1BEF9E29-CEB6-41A3-8767-9FFD2C05E9D6}"/>
              </a:ext>
            </a:extLst>
          </p:cNvPr>
          <p:cNvSpPr>
            <a:spLocks xmlns:a="http://schemas.openxmlformats.org/drawingml/2006/main" noGrp="1"/>
          </p:cNvSpPr>
          <p:nvPr/>
        </p:nvSpPr>
        <p:spPr>
          <a:xfrm xmlns:a="http://schemas.openxmlformats.org/drawingml/2006/main">
            <a:off x="609600" y="489585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252C"/>
                </a:solidFill>
                <a:latin typeface="Arial"/>
                <a:ea typeface="Arial"/>
                <a:cs typeface="Arial"/>
              </a:defRPr>
            </a:defPPr>
          </a:lstStyle>
          <a:p xmlns:a="http://schemas.openxmlformats.org/drawingml/2006/main">
            <a:pPr>
              <a:defRPr sz="2100" b="0">
                <a:solidFill>
                  <a:srgbClr val="17252C"/>
                </a:solidFill>
                <a:latin typeface="Arial"/>
                <a:ea typeface="Arial"/>
                <a:cs typeface="Arial"/>
              </a:defRPr>
            </a:pPr>
            <a:r>
              <a:rPr sz="2100" b="0">
                <a:solidFill>
                  <a:srgbClr val="17252C"/>
                </a:solidFill>
                <a:latin typeface="Arial"/>
                <a:ea typeface="Arial"/>
                <a:cs typeface="Arial"/>
              </a:rPr>
              <a:t>Attacker: JSON body and known username, no direct DB access</a:t>
            </a:r>
          </a:p>
          <a:p xmlns:a="http://schemas.openxmlformats.org/drawingml/2006/main">
            <a:pPr>
              <a:defRPr sz="2100" b="0">
                <a:solidFill>
                  <a:srgbClr val="17252C"/>
                </a:solidFill>
                <a:latin typeface="Arial"/>
                <a:ea typeface="Arial"/>
                <a:cs typeface="Arial"/>
              </a:defRPr>
            </a:pPr>
            <a:r>
              <a:rPr sz="2100" b="0">
                <a:solidFill>
                  <a:srgbClr val="17252C"/>
                </a:solidFill>
                <a:latin typeface="Arial"/>
                <a:ea typeface="Arial"/>
                <a:cs typeface="Arial"/>
              </a:rPr>
              <a:t>App: matching account creates a session</a:t>
            </a:r>
          </a:p>
          <a:p xmlns:a="http://schemas.openxmlformats.org/drawingml/2006/main">
            <a:pPr>
              <a:defRPr sz="2100" b="0">
                <a:solidFill>
                  <a:srgbClr val="17252C"/>
                </a:solidFill>
                <a:latin typeface="Arial"/>
                <a:ea typeface="Arial"/>
                <a:cs typeface="Arial"/>
              </a:defRPr>
            </a:pPr>
            <a:r>
              <a:rPr sz="2100" b="0">
                <a:solidFill>
                  <a:srgbClr val="17252C"/>
                </a:solidFill>
                <a:latin typeface="Arial"/>
                <a:ea typeface="Arial"/>
                <a:cs typeface="Arial"/>
              </a:rPr>
              <a:t>Consequence: false identity exposes protected data</a:t>
            </a:r>
          </a:p>
        </p:txBody>
      </p:sp>
    </p:spTree>
    <p:extLst>
      <p:ext uri="{BB962C8B-B14F-4D97-AF65-F5344CB8AC3E}">
        <p14:creationId xmlns:p14="http://schemas.microsoft.com/office/powerpoint/2010/main" val="1147199027"/>
      </p:ext>
    </p:extLst>
  </p:cSld>
</p:sld>
</file>

<file path=ppt/slides/slide4.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6D8981E-EB7C-481A-97FD-F977113687F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Attack landscape and study scope</a:t>
            </a:r>
          </a:p>
        </p:txBody>
      </p:sp>
      <p:sp>
        <p:nvSpPr>
          <p:cNvPr id="2" name="">
            <a:extLst xmlns:a="http://schemas.openxmlformats.org/drawingml/2006/main">
              <a:ext uri="{FF2B5EF4-FFF2-40B4-BE49-F238E27FC236}">
                <a16:creationId xmlns:a16="http://schemas.microsoft.com/office/drawing/2014/main" id="{102946DC-E2FF-49EC-8912-8FD665FDE391}"/>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CA503DAB-A516-4A9D-97C3-5B375C94E909}"/>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1616A"/>
                </a:solidFill>
                <a:latin typeface="Arial"/>
                <a:ea typeface="Arial"/>
                <a:cs typeface="Arial"/>
              </a:defRPr>
            </a:defPPr>
          </a:lstStyle>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Ron, Shulman-Peleg &amp; Puzanov. IEEE Security &amp; Privacy 14(2), 30-39 (2016)</a:t>
            </a:r>
          </a:p>
        </p:txBody>
      </p:sp>
      <p:graphicFrame>
        <p:nvGraphicFramePr>
          <p:cNvPr id="4" name="">
            <a:extLst xmlns:a="http://schemas.openxmlformats.org/drawingml/2006/main">
              <a:ext uri="{FF2B5EF4-FFF2-40B4-BE49-F238E27FC236}">
                <a16:creationId xmlns:a16="http://schemas.microsoft.com/office/drawing/2014/main" id="{2804AC4A-6C45-4404-8046-202D7D163736}"/>
              </a:ext>
            </a:extLst>
          </p:cNvPr>
          <p:cNvGraphicFramePr/>
          <p:nvPr/>
        </p:nvGraphicFramePr>
        <p:xfrm>
          <a:off xmlns:a="http://schemas.openxmlformats.org/drawingml/2006/main" x="609600" y="1619250"/>
          <a:ext xmlns:a="http://schemas.openxmlformats.org/drawingml/2006/main" cx="10972800" cy="3476625"/>
        </p:xfrm>
        <a:graphic xmlns:a="http://schemas.openxmlformats.org/drawingml/2006/main">
          <a:graphicData uri="http://schemas.openxmlformats.org/drawingml/2006/table">
            <a:tbl>
              <a:tblPr/>
              <a:tblGrid>
                <a:gridCol w="3810000"/>
                <a:gridCol w="4095750"/>
                <a:gridCol w="3067050"/>
              </a:tblGrid>
              <a:tr h="579438">
                <a:tc>
                  <a:txBody>
                    <a:bodyPr/>
                    <a:lstStyle/>
                    <a:p>
                      <a:r>
                        <a:rPr sz="1875" b="1">
                          <a:solidFill>
                            <a:srgbClr val="FFFFFF"/>
                          </a:solidFill>
                          <a:latin typeface="Arial"/>
                          <a:ea typeface="Arial"/>
                          <a:cs typeface="Arial"/>
                        </a:rPr>
                        <a:t>Mechanism</a:t>
                      </a:r>
                    </a:p>
                  </a:txBody>
                  <a:tcPr marL="133350" marR="133350" marT="76200" marB="76200" anchor="ctr">
                    <a:solidFill>
                      <a:srgbClr val="17252C"/>
                    </a:solidFill>
                  </a:tcPr>
                </a:tc>
                <a:tc>
                  <a:txBody>
                    <a:bodyPr/>
                    <a:lstStyle/>
                    <a:p>
                      <a:r>
                        <a:rPr sz="1875" b="1">
                          <a:solidFill>
                            <a:srgbClr val="FFFFFF"/>
                          </a:solidFill>
                          <a:latin typeface="Arial"/>
                          <a:ea typeface="Arial"/>
                          <a:cs typeface="Arial"/>
                        </a:rPr>
                        <a:t>Boundary crossed</a:t>
                      </a:r>
                    </a:p>
                  </a:txBody>
                  <a:tcPr marL="133350" marR="133350" marT="76200" marB="76200" anchor="ctr">
                    <a:solidFill>
                      <a:srgbClr val="17252C"/>
                    </a:solidFill>
                  </a:tcPr>
                </a:tc>
                <a:tc>
                  <a:txBody>
                    <a:bodyPr/>
                    <a:lstStyle/>
                    <a:p>
                      <a:r>
                        <a:rPr sz="1875" b="1">
                          <a:solidFill>
                            <a:srgbClr val="FFFFFF"/>
                          </a:solidFill>
                          <a:latin typeface="Arial"/>
                          <a:ea typeface="Arial"/>
                          <a:cs typeface="Arial"/>
                        </a:rPr>
                        <a:t>Our treatment</a:t>
                      </a:r>
                    </a:p>
                  </a:txBody>
                  <a:tcPr marL="133350" marR="133350" marT="76200" marB="76200" anchor="ctr">
                    <a:solidFill>
                      <a:srgbClr val="17252C"/>
                    </a:solidFill>
                  </a:tcPr>
                </a:tc>
              </a:tr>
              <a:tr h="579438">
                <a:tc>
                  <a:txBody>
                    <a:bodyPr/>
                    <a:lstStyle/>
                    <a:p>
                      <a:r>
                        <a:rPr sz="1875">
                          <a:solidFill>
                            <a:srgbClr val="17252C"/>
                          </a:solidFill>
                          <a:latin typeface="Arial"/>
                          <a:ea typeface="Arial"/>
                          <a:cs typeface="Arial"/>
                        </a:rPr>
                        <a:t>Operator injection</a:t>
                      </a:r>
                    </a:p>
                  </a:txBody>
                  <a:tcPr marL="133350" marR="133350" marT="76200" marB="76200" anchor="ctr">
                    <a:solidFill>
                      <a:srgbClr val="F6F6F2"/>
                    </a:solidFill>
                  </a:tcPr>
                </a:tc>
                <a:tc>
                  <a:txBody>
                    <a:bodyPr/>
                    <a:lstStyle/>
                    <a:p>
                      <a:r>
                        <a:rPr sz="1875">
                          <a:solidFill>
                            <a:srgbClr val="17252C"/>
                          </a:solidFill>
                          <a:latin typeface="Arial"/>
                          <a:ea typeface="Arial"/>
                          <a:cs typeface="Arial"/>
                        </a:rPr>
                        <a:t>Object becomes predicate</a:t>
                      </a:r>
                    </a:p>
                  </a:txBody>
                  <a:tcPr marL="133350" marR="133350" marT="76200" marB="76200" anchor="ctr">
                    <a:solidFill>
                      <a:srgbClr val="F6F6F2"/>
                    </a:solidFill>
                  </a:tcPr>
                </a:tc>
                <a:tc>
                  <a:txBody>
                    <a:bodyPr/>
                    <a:lstStyle/>
                    <a:p>
                      <a:r>
                        <a:rPr sz="1875">
                          <a:solidFill>
                            <a:srgbClr val="17252C"/>
                          </a:solidFill>
                          <a:latin typeface="Arial"/>
                          <a:ea typeface="Arial"/>
                          <a:cs typeface="Arial"/>
                        </a:rPr>
                        <a:t>Measured deep dive</a:t>
                      </a:r>
                    </a:p>
                  </a:txBody>
                  <a:tcPr marL="133350" marR="133350" marT="76200" marB="76200" anchor="ctr">
                    <a:solidFill>
                      <a:srgbClr val="F6F6F2"/>
                    </a:solidFill>
                  </a:tcPr>
                </a:tc>
              </a:tr>
              <a:tr h="579438">
                <a:tc>
                  <a:txBody>
                    <a:bodyPr/>
                    <a:lstStyle/>
                    <a:p>
                      <a:r>
                        <a:rPr sz="1875">
                          <a:solidFill>
                            <a:srgbClr val="17252C"/>
                          </a:solidFill>
                          <a:latin typeface="Arial"/>
                          <a:ea typeface="Arial"/>
                          <a:cs typeface="Arial"/>
                        </a:rPr>
                        <a:t>Query text (union-like)</a:t>
                      </a:r>
                    </a:p>
                  </a:txBody>
                  <a:tcPr marL="133350" marR="133350" marT="76200" marB="76200" anchor="ctr">
                    <a:solidFill>
                      <a:srgbClr val="F6F6F2"/>
                    </a:solidFill>
                  </a:tcPr>
                </a:tc>
                <a:tc>
                  <a:txBody>
                    <a:bodyPr/>
                    <a:lstStyle/>
                    <a:p>
                      <a:r>
                        <a:rPr sz="1875">
                          <a:solidFill>
                            <a:srgbClr val="17252C"/>
                          </a:solidFill>
                          <a:latin typeface="Arial"/>
                          <a:ea typeface="Arial"/>
                          <a:cs typeface="Arial"/>
                        </a:rPr>
                        <a:t>Text changes query structure</a:t>
                      </a:r>
                    </a:p>
                  </a:txBody>
                  <a:tcPr marL="133350" marR="133350" marT="76200" marB="76200" anchor="ctr">
                    <a:solidFill>
                      <a:srgbClr val="F6F6F2"/>
                    </a:solidFill>
                  </a:tcPr>
                </a:tc>
                <a:tc>
                  <a:txBody>
                    <a:bodyPr/>
                    <a:lstStyle/>
                    <a:p>
                      <a:r>
                        <a:rPr sz="1875">
                          <a:solidFill>
                            <a:srgbClr val="17252C"/>
                          </a:solidFill>
                          <a:latin typeface="Arial"/>
                          <a:ea typeface="Arial"/>
                          <a:cs typeface="Arial"/>
                        </a:rPr>
                        <a:t>Paper overview</a:t>
                      </a:r>
                    </a:p>
                  </a:txBody>
                  <a:tcPr marL="133350" marR="133350" marT="76200" marB="76200" anchor="ctr">
                    <a:solidFill>
                      <a:srgbClr val="F6F6F2"/>
                    </a:solidFill>
                  </a:tcPr>
                </a:tc>
              </a:tr>
              <a:tr h="579438">
                <a:tc>
                  <a:txBody>
                    <a:bodyPr/>
                    <a:lstStyle/>
                    <a:p>
                      <a:r>
                        <a:rPr sz="1875">
                          <a:solidFill>
                            <a:srgbClr val="17252C"/>
                          </a:solidFill>
                          <a:latin typeface="Arial"/>
                          <a:ea typeface="Arial"/>
                          <a:cs typeface="Arial"/>
                        </a:rPr>
                        <a:t>JavaScript injection</a:t>
                      </a:r>
                    </a:p>
                  </a:txBody>
                  <a:tcPr marL="133350" marR="133350" marT="76200" marB="76200" anchor="ctr">
                    <a:solidFill>
                      <a:srgbClr val="F6F6F2"/>
                    </a:solidFill>
                  </a:tcPr>
                </a:tc>
                <a:tc>
                  <a:txBody>
                    <a:bodyPr/>
                    <a:lstStyle/>
                    <a:p>
                      <a:r>
                        <a:rPr sz="1875">
                          <a:solidFill>
                            <a:srgbClr val="17252C"/>
                          </a:solidFill>
                          <a:latin typeface="Arial"/>
                          <a:ea typeface="Arial"/>
                          <a:cs typeface="Arial"/>
                        </a:rPr>
                        <a:t>String becomes JS source</a:t>
                      </a:r>
                    </a:p>
                  </a:txBody>
                  <a:tcPr marL="133350" marR="133350" marT="76200" marB="76200" anchor="ctr">
                    <a:solidFill>
                      <a:srgbClr val="F6F6F2"/>
                    </a:solidFill>
                  </a:tcPr>
                </a:tc>
                <a:tc>
                  <a:txBody>
                    <a:bodyPr/>
                    <a:lstStyle/>
                    <a:p>
                      <a:r>
                        <a:rPr sz="1875">
                          <a:solidFill>
                            <a:srgbClr val="17252C"/>
                          </a:solidFill>
                          <a:latin typeface="Arial"/>
                          <a:ea typeface="Arial"/>
                          <a:cs typeface="Arial"/>
                        </a:rPr>
                        <a:t>Conceptual contrast</a:t>
                      </a:r>
                    </a:p>
                  </a:txBody>
                  <a:tcPr marL="133350" marR="133350" marT="76200" marB="76200" anchor="ctr">
                    <a:solidFill>
                      <a:srgbClr val="F6F6F2"/>
                    </a:solidFill>
                  </a:tcPr>
                </a:tc>
              </a:tr>
              <a:tr h="579438">
                <a:tc>
                  <a:txBody>
                    <a:bodyPr/>
                    <a:lstStyle/>
                    <a:p>
                      <a:r>
                        <a:rPr sz="1875">
                          <a:solidFill>
                            <a:srgbClr val="17252C"/>
                          </a:solidFill>
                          <a:latin typeface="Arial"/>
                          <a:ea typeface="Arial"/>
                          <a:cs typeface="Arial"/>
                        </a:rPr>
                        <a:t>Command piggybacking</a:t>
                      </a:r>
                    </a:p>
                  </a:txBody>
                  <a:tcPr marL="133350" marR="133350" marT="76200" marB="76200" anchor="ctr">
                    <a:solidFill>
                      <a:srgbClr val="F6F6F2"/>
                    </a:solidFill>
                  </a:tcPr>
                </a:tc>
                <a:tc>
                  <a:txBody>
                    <a:bodyPr/>
                    <a:lstStyle/>
                    <a:p>
                      <a:r>
                        <a:rPr sz="1875">
                          <a:solidFill>
                            <a:srgbClr val="17252C"/>
                          </a:solidFill>
                          <a:latin typeface="Arial"/>
                          <a:ea typeface="Arial"/>
                          <a:cs typeface="Arial"/>
                        </a:rPr>
                        <a:t>Input adds a protocol command</a:t>
                      </a:r>
                    </a:p>
                  </a:txBody>
                  <a:tcPr marL="133350" marR="133350" marT="76200" marB="76200" anchor="ctr">
                    <a:solidFill>
                      <a:srgbClr val="F6F6F2"/>
                    </a:solidFill>
                  </a:tcPr>
                </a:tc>
                <a:tc>
                  <a:txBody>
                    <a:bodyPr/>
                    <a:lstStyle/>
                    <a:p>
                      <a:r>
                        <a:rPr sz="1875">
                          <a:solidFill>
                            <a:srgbClr val="17252C"/>
                          </a:solidFill>
                          <a:latin typeface="Arial"/>
                          <a:ea typeface="Arial"/>
                          <a:cs typeface="Arial"/>
                        </a:rPr>
                        <a:t>Historical context</a:t>
                      </a:r>
                    </a:p>
                  </a:txBody>
                  <a:tcPr marL="133350" marR="133350" marT="76200" marB="76200" anchor="ctr">
                    <a:solidFill>
                      <a:srgbClr val="F6F6F2"/>
                    </a:solidFill>
                  </a:tcPr>
                </a:tc>
              </a:tr>
              <a:tr h="579438">
                <a:tc>
                  <a:txBody>
                    <a:bodyPr/>
                    <a:lstStyle/>
                    <a:p>
                      <a:r>
                        <a:rPr sz="1875">
                          <a:solidFill>
                            <a:srgbClr val="17252C"/>
                          </a:solidFill>
                          <a:latin typeface="Arial"/>
                          <a:ea typeface="Arial"/>
                          <a:cs typeface="Arial"/>
                        </a:rPr>
                        <a:t>Browser-origin attacks</a:t>
                      </a:r>
                    </a:p>
                  </a:txBody>
                  <a:tcPr marL="133350" marR="133350" marT="76200" marB="76200" anchor="ctr">
                    <a:solidFill>
                      <a:srgbClr val="F6F6F2"/>
                    </a:solidFill>
                  </a:tcPr>
                </a:tc>
                <a:tc>
                  <a:txBody>
                    <a:bodyPr/>
                    <a:lstStyle/>
                    <a:p>
                      <a:r>
                        <a:rPr sz="1875">
                          <a:solidFill>
                            <a:srgbClr val="17252C"/>
                          </a:solidFill>
                          <a:latin typeface="Arial"/>
                          <a:ea typeface="Arial"/>
                          <a:cs typeface="Arial"/>
                        </a:rPr>
                        <a:t>Browser uses victim credentials</a:t>
                      </a:r>
                    </a:p>
                  </a:txBody>
                  <a:tcPr marL="133350" marR="133350" marT="76200" marB="76200" anchor="ctr">
                    <a:solidFill>
                      <a:srgbClr val="F6F6F2"/>
                    </a:solidFill>
                  </a:tcPr>
                </a:tc>
                <a:tc>
                  <a:txBody>
                    <a:bodyPr/>
                    <a:lstStyle/>
                    <a:p>
                      <a:r>
                        <a:rPr sz="1875">
                          <a:solidFill>
                            <a:srgbClr val="17252C"/>
                          </a:solidFill>
                          <a:latin typeface="Arial"/>
                          <a:ea typeface="Arial"/>
                          <a:cs typeface="Arial"/>
                        </a:rPr>
                        <a:t>Adjacent issue (CSRF)</a:t>
                      </a:r>
                    </a:p>
                  </a:txBody>
                  <a:tcPr marL="133350" marR="133350" marT="76200" marB="76200" anchor="ctr">
                    <a:solidFill>
                      <a:srgbClr val="F6F6F2"/>
                    </a:solidFill>
                  </a:tcPr>
                </a:tc>
              </a:tr>
            </a:tbl>
          </a:graphicData>
        </a:graphic>
      </p:graphicFrame>
      <p:sp>
        <p:nvSpPr>
          <p:cNvPr id="5" name="">
            <a:extLst xmlns:a="http://schemas.openxmlformats.org/drawingml/2006/main">
              <a:ext uri="{FF2B5EF4-FFF2-40B4-BE49-F238E27FC236}">
                <a16:creationId xmlns:a16="http://schemas.microsoft.com/office/drawing/2014/main" id="{88AEC7B3-2AF1-4783-88A1-454C404F90ED}"/>
              </a:ext>
            </a:extLst>
          </p:cNvPr>
          <p:cNvSpPr>
            <a:spLocks xmlns:a="http://schemas.openxmlformats.org/drawingml/2006/main" noGrp="1"/>
          </p:cNvSpPr>
          <p:nvPr/>
        </p:nvSpPr>
        <p:spPr>
          <a:xfrm xmlns:a="http://schemas.openxmlformats.org/drawingml/2006/main">
            <a:off x="609600" y="5438775"/>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7252C"/>
                </a:solidFill>
                <a:latin typeface="Arial"/>
                <a:ea typeface="Arial"/>
                <a:cs typeface="Arial"/>
              </a:defRPr>
            </a:defPPr>
          </a:lstStyle>
          <a:p xmlns:a="http://schemas.openxmlformats.org/drawingml/2006/main">
            <a:pPr>
              <a:defRPr sz="2400" b="1">
                <a:solidFill>
                  <a:srgbClr val="17252C"/>
                </a:solidFill>
                <a:latin typeface="Arial"/>
                <a:ea typeface="Arial"/>
                <a:cs typeface="Arial"/>
              </a:defRPr>
            </a:pPr>
            <a:r>
              <a:rPr sz="2400" b="1">
                <a:solidFill>
                  <a:srgbClr val="17252C"/>
                </a:solidFill>
                <a:latin typeface="Arial"/>
                <a:ea typeface="Arial"/>
                <a:cs typeface="Arial"/>
              </a:rPr>
              <a:t>Which controls stop the operator-based login bypass?</a:t>
            </a:r>
          </a:p>
        </p:txBody>
      </p:sp>
    </p:spTree>
    <p:extLst>
      <p:ext uri="{BB962C8B-B14F-4D97-AF65-F5344CB8AC3E}">
        <p14:creationId xmlns:p14="http://schemas.microsoft.com/office/powerpoint/2010/main" val="177436397"/>
      </p:ext>
    </p:extLst>
  </p:cSld>
</p:sld>
</file>

<file path=ppt/slides/slide5.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518534C-BF39-4C5C-A9BA-08BA08C3129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An object changes the password condition</a:t>
            </a:r>
          </a:p>
        </p:txBody>
      </p:sp>
      <p:sp>
        <p:nvSpPr>
          <p:cNvPr id="2" name="">
            <a:extLst xmlns:a="http://schemas.openxmlformats.org/drawingml/2006/main">
              <a:ext uri="{FF2B5EF4-FFF2-40B4-BE49-F238E27FC236}">
                <a16:creationId xmlns:a16="http://schemas.microsoft.com/office/drawing/2014/main" id="{F04D251A-C6B8-4D04-83F6-ED889C2B1897}"/>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B66FE39E-EB7C-4876-BC01-93AAE05B94C5}"/>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1616A"/>
                </a:solidFill>
                <a:latin typeface="Arial"/>
                <a:ea typeface="Arial"/>
                <a:cs typeface="Arial"/>
              </a:defRPr>
            </a:defPPr>
          </a:lstStyle>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C04 reproduction; MongoDB $ne documentation</a:t>
            </a:r>
          </a:p>
        </p:txBody>
      </p:sp>
      <p:sp>
        <p:nvSpPr>
          <p:cNvPr id="4" name="">
            <a:extLst xmlns:a="http://schemas.openxmlformats.org/drawingml/2006/main">
              <a:ext uri="{FF2B5EF4-FFF2-40B4-BE49-F238E27FC236}">
                <a16:creationId xmlns:a16="http://schemas.microsoft.com/office/drawing/2014/main" id="{9396D1BA-138C-405B-9D6A-BA8BE07C18E8}"/>
              </a:ext>
            </a:extLst>
          </p:cNvPr>
          <p:cNvSpPr>
            <a:spLocks xmlns:a="http://schemas.openxmlformats.org/drawingml/2006/main" noGrp="1"/>
          </p:cNvSpPr>
          <p:nvPr/>
        </p:nvSpPr>
        <p:spPr>
          <a:xfrm xmlns:a="http://schemas.openxmlformats.org/drawingml/2006/main">
            <a:off x="609600" y="15906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AF3047"/>
                </a:solidFill>
                <a:latin typeface="Arial"/>
                <a:ea typeface="Arial"/>
                <a:cs typeface="Arial"/>
              </a:defRPr>
            </a:defPPr>
          </a:lstStyle>
          <a:p xmlns:a="http://schemas.openxmlformats.org/drawingml/2006/main">
            <a:pPr>
              <a:defRPr sz="1725" b="1">
                <a:solidFill>
                  <a:srgbClr val="AF3047"/>
                </a:solidFill>
                <a:latin typeface="Arial"/>
                <a:ea typeface="Arial"/>
                <a:cs typeface="Arial"/>
              </a:defRPr>
            </a:pPr>
            <a:r>
              <a:rPr sz="1725" b="1">
                <a:solidFill>
                  <a:srgbClr val="AF3047"/>
                </a:solidFill>
                <a:latin typeface="Arial"/>
                <a:ea typeface="Arial"/>
                <a:cs typeface="Arial"/>
              </a:rPr>
              <a:t>CLIENT REQUEST</a:t>
            </a:r>
          </a:p>
        </p:txBody>
      </p:sp>
      <p:sp>
        <p:nvSpPr>
          <p:cNvPr id="5" name="">
            <a:extLst xmlns:a="http://schemas.openxmlformats.org/drawingml/2006/main">
              <a:ext uri="{FF2B5EF4-FFF2-40B4-BE49-F238E27FC236}">
                <a16:creationId xmlns:a16="http://schemas.microsoft.com/office/drawing/2014/main" id="{429B07A8-1260-4CD4-8C07-FE154D350AB6}"/>
              </a:ext>
            </a:extLst>
          </p:cNvPr>
          <p:cNvSpPr>
            <a:spLocks xmlns:a="http://schemas.openxmlformats.org/drawingml/2006/main" noGrp="1"/>
          </p:cNvSpPr>
          <p:nvPr/>
        </p:nvSpPr>
        <p:spPr>
          <a:xfrm xmlns:a="http://schemas.openxmlformats.org/drawingml/2006/main">
            <a:off x="609600" y="20288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AF3047"/>
                </a:solidFill>
                <a:latin typeface="Courier New"/>
                <a:ea typeface="Courier New"/>
                <a:cs typeface="Courier New"/>
              </a:defRPr>
            </a:defPPr>
          </a:lstStyle>
          <a:p xmlns:a="http://schemas.openxmlformats.org/drawingml/2006/main">
            <a:pPr>
              <a:defRPr sz="2400" b="0">
                <a:solidFill>
                  <a:srgbClr val="AF3047"/>
                </a:solidFill>
                <a:latin typeface="Courier New"/>
                <a:ea typeface="Courier New"/>
                <a:cs typeface="Courier New"/>
              </a:defRPr>
            </a:pPr>
            <a:r>
              <a:rPr sz="2400" b="0">
                <a:solidFill>
                  <a:srgbClr val="AF3047"/>
                </a:solidFill>
                <a:latin typeface="Courier New"/>
                <a:ea typeface="Courier New"/>
                <a:cs typeface="Courier New"/>
              </a:rPr>
              <a:t>{"username":"alice","password":{"$ne":""}}</a:t>
            </a:r>
          </a:p>
        </p:txBody>
      </p:sp>
      <p:sp>
        <p:nvSpPr>
          <p:cNvPr id="6" name="">
            <a:extLst xmlns:a="http://schemas.openxmlformats.org/drawingml/2006/main">
              <a:ext uri="{FF2B5EF4-FFF2-40B4-BE49-F238E27FC236}">
                <a16:creationId xmlns:a16="http://schemas.microsoft.com/office/drawing/2014/main" id="{CF97A320-E2AA-4532-9A2C-1C72990368BA}"/>
              </a:ext>
            </a:extLst>
          </p:cNvPr>
          <p:cNvSpPr>
            <a:spLocks xmlns:a="http://schemas.openxmlformats.org/drawingml/2006/main" noGrp="1"/>
          </p:cNvSpPr>
          <p:nvPr/>
        </p:nvSpPr>
        <p:spPr>
          <a:xfrm xmlns:a="http://schemas.openxmlformats.org/drawingml/2006/main">
            <a:off x="609600" y="30480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51616A"/>
                </a:solidFill>
                <a:latin typeface="Arial"/>
                <a:ea typeface="Arial"/>
                <a:cs typeface="Arial"/>
              </a:defRPr>
            </a:defPPr>
          </a:lstStyle>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VULNERABLE APPLICATION CODE</a:t>
            </a:r>
          </a:p>
        </p:txBody>
      </p:sp>
      <p:sp>
        <p:nvSpPr>
          <p:cNvPr id="7" name="">
            <a:extLst xmlns:a="http://schemas.openxmlformats.org/drawingml/2006/main">
              <a:ext uri="{FF2B5EF4-FFF2-40B4-BE49-F238E27FC236}">
                <a16:creationId xmlns:a16="http://schemas.microsoft.com/office/drawing/2014/main" id="{2D722003-322C-400A-B7A6-0C96928A0EBC}"/>
              </a:ext>
            </a:extLst>
          </p:cNvPr>
          <p:cNvSpPr>
            <a:spLocks xmlns:a="http://schemas.openxmlformats.org/drawingml/2006/main" noGrp="1"/>
          </p:cNvSpPr>
          <p:nvPr/>
        </p:nvSpPr>
        <p:spPr>
          <a:xfrm xmlns:a="http://schemas.openxmlformats.org/drawingml/2006/main">
            <a:off x="609600" y="3476625"/>
            <a:ext cx="619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7252C"/>
                </a:solidFill>
                <a:latin typeface="Courier New"/>
                <a:ea typeface="Courier New"/>
                <a:cs typeface="Courier New"/>
              </a:defRPr>
            </a:defPPr>
          </a:lstStyle>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users.findOne({</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username: body.username,</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password: body.password</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B13988F9-7B52-45D9-9748-760DC418C0C7}"/>
              </a:ext>
            </a:extLst>
          </p:cNvPr>
          <p:cNvSpPr>
            <a:spLocks xmlns:a="http://schemas.openxmlformats.org/drawingml/2006/main" noGrp="1"/>
          </p:cNvSpPr>
          <p:nvPr/>
        </p:nvSpPr>
        <p:spPr>
          <a:xfrm xmlns:a="http://schemas.openxmlformats.org/drawingml/2006/main">
            <a:off x="7239000" y="3562350"/>
            <a:ext cx="4286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7252C"/>
                </a:solidFill>
                <a:latin typeface="Arial"/>
                <a:ea typeface="Arial"/>
                <a:cs typeface="Arial"/>
              </a:defRPr>
            </a:defPPr>
          </a:lstStyle>
          <a:p xmlns:a="http://schemas.openxmlformats.org/drawingml/2006/main">
            <a:pPr>
              <a:defRPr sz="2400" b="1">
                <a:solidFill>
                  <a:srgbClr val="17252C"/>
                </a:solidFill>
                <a:latin typeface="Arial"/>
                <a:ea typeface="Arial"/>
                <a:cs typeface="Arial"/>
              </a:defRPr>
            </a:pPr>
            <a:r>
              <a:rPr sz="2400" b="1">
                <a:solidFill>
                  <a:srgbClr val="17252C"/>
                </a:solidFill>
                <a:latin typeface="Arial"/>
                <a:ea typeface="Arial"/>
                <a:cs typeface="Arial"/>
              </a:rPr>
              <a:t>Alice matches when her</a:t>
            </a:r>
          </a:p>
          <a:p xmlns:a="http://schemas.openxmlformats.org/drawingml/2006/main">
            <a:pPr>
              <a:defRPr sz="2400" b="1">
                <a:solidFill>
                  <a:srgbClr val="17252C"/>
                </a:solidFill>
                <a:latin typeface="Arial"/>
                <a:ea typeface="Arial"/>
                <a:cs typeface="Arial"/>
              </a:defRPr>
            </a:pPr>
            <a:r>
              <a:rPr sz="2400" b="1">
                <a:solidFill>
                  <a:srgbClr val="17252C"/>
                </a:solidFill>
                <a:latin typeface="Arial"/>
                <a:ea typeface="Arial"/>
                <a:cs typeface="Arial"/>
              </a:rPr>
              <a:t>stored password is non-empty</a:t>
            </a:r>
          </a:p>
        </p:txBody>
      </p:sp>
      <p:sp>
        <p:nvSpPr>
          <p:cNvPr id="9" name="">
            <a:extLst xmlns:a="http://schemas.openxmlformats.org/drawingml/2006/main">
              <a:ext uri="{FF2B5EF4-FFF2-40B4-BE49-F238E27FC236}">
                <a16:creationId xmlns:a16="http://schemas.microsoft.com/office/drawing/2014/main" id="{AEB62C1B-2160-4918-A8E4-A397573C5C24}"/>
              </a:ext>
            </a:extLst>
          </p:cNvPr>
          <p:cNvSpPr>
            <a:spLocks xmlns:a="http://schemas.openxmlformats.org/drawingml/2006/main" noGrp="1"/>
          </p:cNvSpPr>
          <p:nvPr/>
        </p:nvSpPr>
        <p:spPr>
          <a:xfrm xmlns:a="http://schemas.openxmlformats.org/drawingml/2006/main">
            <a:off x="609600" y="5543550"/>
            <a:ext cx="1095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AF3047"/>
                </a:solidFill>
                <a:latin typeface="Arial"/>
                <a:ea typeface="Arial"/>
                <a:cs typeface="Arial"/>
              </a:defRPr>
            </a:defPPr>
          </a:lstStyle>
          <a:p xmlns:a="http://schemas.openxmlformats.org/drawingml/2006/main">
            <a:pPr>
              <a:defRPr sz="2175" b="1">
                <a:solidFill>
                  <a:srgbClr val="AF3047"/>
                </a:solidFill>
                <a:latin typeface="Arial"/>
                <a:ea typeface="Arial"/>
                <a:cs typeface="Arial"/>
              </a:defRPr>
            </a:pPr>
            <a:r>
              <a:rPr sz="2175" b="1">
                <a:solidFill>
                  <a:srgbClr val="AF3047"/>
                </a:solidFill>
                <a:latin typeface="Arial"/>
                <a:ea typeface="Arial"/>
                <a:cs typeface="Arial"/>
              </a:rPr>
              <a:t>A matched record incorrectly becomes an authenticated session</a:t>
            </a:r>
          </a:p>
        </p:txBody>
      </p:sp>
    </p:spTree>
    <p:extLst>
      <p:ext uri="{BB962C8B-B14F-4D97-AF65-F5344CB8AC3E}">
        <p14:creationId xmlns:p14="http://schemas.microsoft.com/office/powerpoint/2010/main" val="400223922"/>
      </p:ext>
    </p:extLst>
  </p:cSld>
</p:sld>
</file>

<file path=ppt/slides/slide6.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4DCE05CA-97DE-4E7B-A8A6-2DD4079AF7D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Input shape and attack assumptions</a:t>
            </a:r>
          </a:p>
        </p:txBody>
      </p:sp>
      <p:sp>
        <p:nvSpPr>
          <p:cNvPr id="2" name="">
            <a:extLst xmlns:a="http://schemas.openxmlformats.org/drawingml/2006/main">
              <a:ext uri="{FF2B5EF4-FFF2-40B4-BE49-F238E27FC236}">
                <a16:creationId xmlns:a16="http://schemas.microsoft.com/office/drawing/2014/main" id="{9C0E78BC-60BF-4620-B079-E2BDE65C747A}"/>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E9BD25A6-ED50-4483-8CD2-CBA0DC638EBA}"/>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1616A"/>
                </a:solidFill>
                <a:latin typeface="Arial"/>
                <a:ea typeface="Arial"/>
                <a:cs typeface="Arial"/>
              </a:defRPr>
            </a:defPPr>
          </a:lstStyle>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C04 object attack and C06 literal-string control; synthetic plaintext reproduction</a:t>
            </a:r>
          </a:p>
        </p:txBody>
      </p:sp>
      <p:sp>
        <p:nvSpPr>
          <p:cNvPr id="4" name="">
            <a:extLst xmlns:a="http://schemas.openxmlformats.org/drawingml/2006/main">
              <a:ext uri="{FF2B5EF4-FFF2-40B4-BE49-F238E27FC236}">
                <a16:creationId xmlns:a16="http://schemas.microsoft.com/office/drawing/2014/main" id="{C8647ED4-2B98-4AE4-868E-19EBA37BDF4E}"/>
              </a:ext>
            </a:extLst>
          </p:cNvPr>
          <p:cNvSpPr>
            <a:spLocks xmlns:a="http://schemas.openxmlformats.org/drawingml/2006/main" noGrp="1"/>
          </p:cNvSpPr>
          <p:nvPr/>
        </p:nvSpPr>
        <p:spPr>
          <a:xfrm xmlns:a="http://schemas.openxmlformats.org/drawingml/2006/main">
            <a:off x="609600" y="169545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AF3047"/>
                </a:solidFill>
                <a:latin typeface="Arial"/>
                <a:ea typeface="Arial"/>
                <a:cs typeface="Arial"/>
              </a:defRPr>
            </a:defPPr>
          </a:lstStyle>
          <a:p xmlns:a="http://schemas.openxmlformats.org/drawingml/2006/main">
            <a:pPr>
              <a:defRPr sz="1725" b="1">
                <a:solidFill>
                  <a:srgbClr val="AF3047"/>
                </a:solidFill>
                <a:latin typeface="Arial"/>
                <a:ea typeface="Arial"/>
                <a:cs typeface="Arial"/>
              </a:defRPr>
            </a:pPr>
            <a:r>
              <a:rPr sz="1725" b="1">
                <a:solidFill>
                  <a:srgbClr val="AF3047"/>
                </a:solidFill>
                <a:latin typeface="Arial"/>
                <a:ea typeface="Arial"/>
                <a:cs typeface="Arial"/>
              </a:rPr>
              <a:t>OPERATOR OBJECT</a:t>
            </a:r>
          </a:p>
        </p:txBody>
      </p:sp>
      <p:sp>
        <p:nvSpPr>
          <p:cNvPr id="5" name="">
            <a:extLst xmlns:a="http://schemas.openxmlformats.org/drawingml/2006/main">
              <a:ext uri="{FF2B5EF4-FFF2-40B4-BE49-F238E27FC236}">
                <a16:creationId xmlns:a16="http://schemas.microsoft.com/office/drawing/2014/main" id="{82A13422-EEA4-478D-A60B-8ECE875554F6}"/>
              </a:ext>
            </a:extLst>
          </p:cNvPr>
          <p:cNvSpPr>
            <a:spLocks xmlns:a="http://schemas.openxmlformats.org/drawingml/2006/main" noGrp="1"/>
          </p:cNvSpPr>
          <p:nvPr/>
        </p:nvSpPr>
        <p:spPr>
          <a:xfrm xmlns:a="http://schemas.openxmlformats.org/drawingml/2006/main">
            <a:off x="609600" y="22002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AF3047"/>
                </a:solidFill>
                <a:latin typeface="Courier New"/>
                <a:ea typeface="Courier New"/>
                <a:cs typeface="Courier New"/>
              </a:defRPr>
            </a:defPPr>
          </a:lstStyle>
          <a:p xmlns:a="http://schemas.openxmlformats.org/drawingml/2006/main">
            <a:pPr>
              <a:defRPr sz="2550" b="0">
                <a:solidFill>
                  <a:srgbClr val="AF3047"/>
                </a:solidFill>
                <a:latin typeface="Courier New"/>
                <a:ea typeface="Courier New"/>
                <a:cs typeface="Courier New"/>
              </a:defRPr>
            </a:pPr>
            <a:r>
              <a:rPr sz="2550" b="0">
                <a:solidFill>
                  <a:srgbClr val="AF3047"/>
                </a:solidFill>
                <a:latin typeface="Courier New"/>
                <a:ea typeface="Courier New"/>
                <a:cs typeface="Courier New"/>
              </a:rPr>
              <a:t>"password": { "$ne": "" }</a:t>
            </a:r>
          </a:p>
        </p:txBody>
      </p:sp>
      <p:sp>
        <p:nvSpPr>
          <p:cNvPr id="6" name="">
            <a:extLst xmlns:a="http://schemas.openxmlformats.org/drawingml/2006/main">
              <a:ext uri="{FF2B5EF4-FFF2-40B4-BE49-F238E27FC236}">
                <a16:creationId xmlns:a16="http://schemas.microsoft.com/office/drawing/2014/main" id="{06B00425-1931-42B5-845E-63E27745AE77}"/>
              </a:ext>
            </a:extLst>
          </p:cNvPr>
          <p:cNvSpPr>
            <a:spLocks xmlns:a="http://schemas.openxmlformats.org/drawingml/2006/main" noGrp="1"/>
          </p:cNvSpPr>
          <p:nvPr/>
        </p:nvSpPr>
        <p:spPr>
          <a:xfrm xmlns:a="http://schemas.openxmlformats.org/drawingml/2006/main">
            <a:off x="609600" y="32385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75A80"/>
                </a:solidFill>
                <a:latin typeface="Arial"/>
                <a:ea typeface="Arial"/>
                <a:cs typeface="Arial"/>
              </a:defRPr>
            </a:defPPr>
          </a:lstStyle>
          <a:p xmlns:a="http://schemas.openxmlformats.org/drawingml/2006/main">
            <a:pPr>
              <a:defRPr sz="1725" b="1">
                <a:solidFill>
                  <a:srgbClr val="275A80"/>
                </a:solidFill>
                <a:latin typeface="Arial"/>
                <a:ea typeface="Arial"/>
                <a:cs typeface="Arial"/>
              </a:defRPr>
            </a:pPr>
            <a:r>
              <a:rPr sz="1725" b="1">
                <a:solidFill>
                  <a:srgbClr val="275A80"/>
                </a:solidFill>
                <a:latin typeface="Arial"/>
                <a:ea typeface="Arial"/>
                <a:cs typeface="Arial"/>
              </a:rPr>
              <a:t>LITERAL STRING</a:t>
            </a:r>
          </a:p>
        </p:txBody>
      </p:sp>
      <p:sp>
        <p:nvSpPr>
          <p:cNvPr id="7" name="">
            <a:extLst xmlns:a="http://schemas.openxmlformats.org/drawingml/2006/main">
              <a:ext uri="{FF2B5EF4-FFF2-40B4-BE49-F238E27FC236}">
                <a16:creationId xmlns:a16="http://schemas.microsoft.com/office/drawing/2014/main" id="{36238D09-F246-44B0-8B2F-6C182602E8A0}"/>
              </a:ext>
            </a:extLst>
          </p:cNvPr>
          <p:cNvSpPr>
            <a:spLocks xmlns:a="http://schemas.openxmlformats.org/drawingml/2006/main" noGrp="1"/>
          </p:cNvSpPr>
          <p:nvPr/>
        </p:nvSpPr>
        <p:spPr>
          <a:xfrm xmlns:a="http://schemas.openxmlformats.org/drawingml/2006/main">
            <a:off x="609600" y="37433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275A80"/>
                </a:solidFill>
                <a:latin typeface="Courier New"/>
                <a:ea typeface="Courier New"/>
                <a:cs typeface="Courier New"/>
              </a:defRPr>
            </a:defPPr>
          </a:lstStyle>
          <a:p xmlns:a="http://schemas.openxmlformats.org/drawingml/2006/main">
            <a:pPr>
              <a:defRPr sz="2550" b="0">
                <a:solidFill>
                  <a:srgbClr val="275A80"/>
                </a:solidFill>
                <a:latin typeface="Courier New"/>
                <a:ea typeface="Courier New"/>
                <a:cs typeface="Courier New"/>
              </a:defRPr>
            </a:pPr>
            <a:r>
              <a:rPr sz="2550" b="0">
                <a:solidFill>
                  <a:srgbClr val="275A80"/>
                </a:solidFill>
                <a:latin typeface="Courier New"/>
                <a:ea typeface="Courier New"/>
                <a:cs typeface="Courier New"/>
              </a:rPr>
              <a:t>"password": "{\"$ne\":\"\"}"</a:t>
            </a:r>
          </a:p>
        </p:txBody>
      </p:sp>
      <p:sp>
        <p:nvSpPr>
          <p:cNvPr id="8" name="">
            <a:extLst xmlns:a="http://schemas.openxmlformats.org/drawingml/2006/main">
              <a:ext uri="{FF2B5EF4-FFF2-40B4-BE49-F238E27FC236}">
                <a16:creationId xmlns:a16="http://schemas.microsoft.com/office/drawing/2014/main" id="{5B58FCCE-4BF7-47DB-BA21-A1222EC57FE8}"/>
              </a:ext>
            </a:extLst>
          </p:cNvPr>
          <p:cNvSpPr>
            <a:spLocks xmlns:a="http://schemas.openxmlformats.org/drawingml/2006/main" noGrp="1"/>
          </p:cNvSpPr>
          <p:nvPr/>
        </p:nvSpPr>
        <p:spPr>
          <a:xfrm xmlns:a="http://schemas.openxmlformats.org/drawingml/2006/main">
            <a:off x="609600" y="48196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52C"/>
                </a:solidFill>
                <a:latin typeface="Arial"/>
                <a:ea typeface="Arial"/>
                <a:cs typeface="Arial"/>
              </a:defRPr>
            </a:defPPr>
          </a:lstStyle>
          <a:p xmlns:a="http://schemas.openxmlformats.org/drawingml/2006/main">
            <a:pPr>
              <a:defRPr sz="2175" b="1">
                <a:solidFill>
                  <a:srgbClr val="17252C"/>
                </a:solidFill>
                <a:latin typeface="Arial"/>
                <a:ea typeface="Arial"/>
                <a:cs typeface="Arial"/>
              </a:defRPr>
            </a:pPr>
            <a:r>
              <a:rPr sz="2175" b="1">
                <a:solidFill>
                  <a:srgbClr val="17252C"/>
                </a:solidFill>
                <a:latin typeface="Arial"/>
                <a:ea typeface="Arial"/>
                <a:cs typeface="Arial"/>
              </a:rPr>
              <a:t>Known unique username. Non-empty stored value. Session on match.</a:t>
            </a:r>
          </a:p>
        </p:txBody>
      </p:sp>
      <p:sp>
        <p:nvSpPr>
          <p:cNvPr id="9" name="">
            <a:extLst xmlns:a="http://schemas.openxmlformats.org/drawingml/2006/main">
              <a:ext uri="{FF2B5EF4-FFF2-40B4-BE49-F238E27FC236}">
                <a16:creationId xmlns:a16="http://schemas.microsoft.com/office/drawing/2014/main" id="{2231110B-A491-42B9-BA79-1B1E8F199E96}"/>
              </a:ext>
            </a:extLst>
          </p:cNvPr>
          <p:cNvSpPr>
            <a:spLocks xmlns:a="http://schemas.openxmlformats.org/drawingml/2006/main" noGrp="1"/>
          </p:cNvSpPr>
          <p:nvPr/>
        </p:nvSpPr>
        <p:spPr>
          <a:xfrm xmlns:a="http://schemas.openxmlformats.org/drawingml/2006/main">
            <a:off x="609600" y="57340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1616A"/>
                </a:solidFill>
                <a:latin typeface="Arial"/>
                <a:ea typeface="Arial"/>
                <a:cs typeface="Arial"/>
              </a:defRPr>
            </a:defPPr>
          </a:lstStyle>
          <a:p xmlns:a="http://schemas.openxmlformats.org/drawingml/2006/main">
            <a:pPr>
              <a:defRPr sz="1800" b="0">
                <a:solidFill>
                  <a:srgbClr val="51616A"/>
                </a:solidFill>
                <a:latin typeface="Arial"/>
                <a:ea typeface="Arial"/>
                <a:cs typeface="Arial"/>
              </a:defRPr>
            </a:pPr>
            <a:r>
              <a:rPr sz="1800" b="0">
                <a:solidFill>
                  <a:srgbClr val="51616A"/>
                </a:solidFill>
                <a:latin typeface="Arial"/>
                <a:ea typeface="Arial"/>
                <a:cs typeface="Arial"/>
              </a:rPr>
              <a:t>Lab simplification: plaintext toy query; hardened path uses hash-only records</a:t>
            </a:r>
          </a:p>
        </p:txBody>
      </p:sp>
    </p:spTree>
    <p:extLst>
      <p:ext uri="{BB962C8B-B14F-4D97-AF65-F5344CB8AC3E}">
        <p14:creationId xmlns:p14="http://schemas.microsoft.com/office/powerpoint/2010/main" val="193116461"/>
      </p:ext>
    </p:extLst>
  </p:cSld>
</p:sld>
</file>

<file path=ppt/slides/slide7.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B0EAE22-B8F2-42F8-B648-EB54584DB00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Controlled experiment</a:t>
            </a:r>
          </a:p>
        </p:txBody>
      </p:sp>
      <p:sp>
        <p:nvSpPr>
          <p:cNvPr id="2" name="">
            <a:extLst xmlns:a="http://schemas.openxmlformats.org/drawingml/2006/main">
              <a:ext uri="{FF2B5EF4-FFF2-40B4-BE49-F238E27FC236}">
                <a16:creationId xmlns:a16="http://schemas.microsoft.com/office/drawing/2014/main" id="{B8FEFB7C-4D7A-4B3E-A8FD-F4BEC9091D62}"/>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CE995DFF-BD51-4DF6-AB74-61A195D13593}"/>
              </a:ext>
            </a:extLst>
          </p:cNvPr>
          <p:cNvSpPr>
            <a:spLocks xmlns:a="http://schemas.openxmlformats.org/drawingml/2006/main" noGrp="1"/>
          </p:cNvSpPr>
          <p:nvPr/>
        </p:nvSpPr>
        <p:spPr>
          <a:xfrm xmlns:a="http://schemas.openxmlformats.org/drawingml/2006/main">
            <a:off x="609600" y="17907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52C"/>
                </a:solidFill>
                <a:latin typeface="Arial"/>
                <a:ea typeface="Arial"/>
                <a:cs typeface="Arial"/>
              </a:defRPr>
            </a:defPPr>
          </a:lstStyle>
          <a:p xmlns:a="http://schemas.openxmlformats.org/drawingml/2006/main">
            <a:pPr>
              <a:defRPr sz="3150" b="1">
                <a:solidFill>
                  <a:srgbClr val="17252C"/>
                </a:solidFill>
                <a:latin typeface="Arial"/>
                <a:ea typeface="Arial"/>
                <a:cs typeface="Arial"/>
              </a:defRPr>
            </a:pPr>
            <a:r>
              <a:rPr sz="3150" b="1">
                <a:solidFill>
                  <a:srgbClr val="17252C"/>
                </a:solidFill>
                <a:latin typeface="Arial"/>
                <a:ea typeface="Arial"/>
                <a:cs typeface="Arial"/>
              </a:rPr>
              <a:t>15 request cases × 5 configurations × 2 runs</a:t>
            </a:r>
          </a:p>
        </p:txBody>
      </p:sp>
      <p:sp>
        <p:nvSpPr>
          <p:cNvPr id="4" name="">
            <a:extLst xmlns:a="http://schemas.openxmlformats.org/drawingml/2006/main">
              <a:ext uri="{FF2B5EF4-FFF2-40B4-BE49-F238E27FC236}">
                <a16:creationId xmlns:a16="http://schemas.microsoft.com/office/drawing/2014/main" id="{DD1DAB2E-DCE2-43DA-8F41-32100248C7BC}"/>
              </a:ext>
            </a:extLst>
          </p:cNvPr>
          <p:cNvSpPr>
            <a:spLocks xmlns:a="http://schemas.openxmlformats.org/drawingml/2006/main" noGrp="1"/>
          </p:cNvSpPr>
          <p:nvPr/>
        </p:nvSpPr>
        <p:spPr>
          <a:xfrm xmlns:a="http://schemas.openxmlformats.org/drawingml/2006/main">
            <a:off x="609600" y="29718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0">
                <a:solidFill>
                  <a:srgbClr val="275A80"/>
                </a:solidFill>
                <a:latin typeface="Arial"/>
                <a:ea typeface="Arial"/>
                <a:cs typeface="Arial"/>
              </a:defRPr>
            </a:defPPr>
          </a:lstStyle>
          <a:p xmlns:a="http://schemas.openxmlformats.org/drawingml/2006/main">
            <a:pPr>
              <a:defRPr sz="2700" b="0">
                <a:solidFill>
                  <a:srgbClr val="275A80"/>
                </a:solidFill>
                <a:latin typeface="Arial"/>
                <a:ea typeface="Arial"/>
                <a:cs typeface="Arial"/>
              </a:defRPr>
            </a:pPr>
            <a:r>
              <a:rPr sz="2700" b="0">
                <a:solidFill>
                  <a:srgbClr val="275A80"/>
                </a:solidFill>
                <a:latin typeface="Arial"/>
                <a:ea typeface="Arial"/>
                <a:cs typeface="Arial"/>
              </a:rPr>
              <a:t>150 configuration/case observations</a:t>
            </a:r>
          </a:p>
        </p:txBody>
      </p:sp>
      <p:sp>
        <p:nvSpPr>
          <p:cNvPr id="5" name="">
            <a:extLst xmlns:a="http://schemas.openxmlformats.org/drawingml/2006/main">
              <a:ext uri="{FF2B5EF4-FFF2-40B4-BE49-F238E27FC236}">
                <a16:creationId xmlns:a16="http://schemas.microsoft.com/office/drawing/2014/main" id="{1774AFFE-F9DF-476B-B835-72B2D25321E0}"/>
              </a:ext>
            </a:extLst>
          </p:cNvPr>
          <p:cNvSpPr>
            <a:spLocks xmlns:a="http://schemas.openxmlformats.org/drawingml/2006/main" noGrp="1"/>
          </p:cNvSpPr>
          <p:nvPr/>
        </p:nvSpPr>
        <p:spPr>
          <a:xfrm xmlns:a="http://schemas.openxmlformats.org/drawingml/2006/main">
            <a:off x="609600" y="4048125"/>
            <a:ext cx="1076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7252C"/>
                </a:solidFill>
                <a:latin typeface="Arial"/>
                <a:ea typeface="Arial"/>
                <a:cs typeface="Arial"/>
              </a:defRPr>
            </a:defPPr>
          </a:lstStyle>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Login status and session decision</a:t>
            </a:r>
          </a:p>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Protected-page access</a:t>
            </a:r>
          </a:p>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Actual database find commands</a:t>
            </a:r>
          </a:p>
        </p:txBody>
      </p:sp>
    </p:spTree>
    <p:extLst>
      <p:ext uri="{BB962C8B-B14F-4D97-AF65-F5344CB8AC3E}">
        <p14:creationId xmlns:p14="http://schemas.microsoft.com/office/powerpoint/2010/main" val="352611346"/>
      </p:ext>
    </p:extLst>
  </p:cSld>
</p:sld>
</file>

<file path=ppt/slides/slide8.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6AACA4E-7A19-4CEE-B3D8-027B139BC572}"/>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Live demonstration</a:t>
            </a:r>
          </a:p>
        </p:txBody>
      </p:sp>
      <p:sp>
        <p:nvSpPr>
          <p:cNvPr id="2" name="">
            <a:extLst xmlns:a="http://schemas.openxmlformats.org/drawingml/2006/main">
              <a:ext uri="{FF2B5EF4-FFF2-40B4-BE49-F238E27FC236}">
                <a16:creationId xmlns:a16="http://schemas.microsoft.com/office/drawing/2014/main" id="{D9A2F717-E7C2-46A1-BC08-BE66B6662E46}"/>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D046AC5E-2EFB-4133-B5C9-B27B48F37AA4}"/>
              </a:ext>
            </a:extLst>
          </p:cNvPr>
          <p:cNvGraphicFramePr/>
          <p:nvPr/>
        </p:nvGraphicFramePr>
        <p:xfrm>
          <a:off xmlns:a="http://schemas.openxmlformats.org/drawingml/2006/main" x="609600" y="1743075"/>
          <a:ext xmlns:a="http://schemas.openxmlformats.org/drawingml/2006/main" cx="10972800" cy="3429000"/>
        </p:xfrm>
        <a:graphic xmlns:a="http://schemas.openxmlformats.org/drawingml/2006/main">
          <a:graphicData uri="http://schemas.openxmlformats.org/drawingml/2006/table">
            <a:tbl>
              <a:tblPr/>
              <a:tblGrid>
                <a:gridCol w="952500"/>
                <a:gridCol w="5905500"/>
                <a:gridCol w="4114800"/>
              </a:tblGrid>
              <a:tr h="685800">
                <a:tc>
                  <a:txBody>
                    <a:bodyPr/>
                    <a:lstStyle/>
                    <a:p>
                      <a:r>
                        <a:rPr sz="2025" b="1">
                          <a:solidFill>
                            <a:srgbClr val="FFFFFF"/>
                          </a:solidFill>
                          <a:latin typeface="Arial"/>
                          <a:ea typeface="Arial"/>
                          <a:cs typeface="Arial"/>
                        </a:rPr>
                        <a:t>Step</a:t>
                      </a:r>
                    </a:p>
                  </a:txBody>
                  <a:tcPr marL="133350" marR="133350" marT="76200" marB="76200" anchor="ctr">
                    <a:solidFill>
                      <a:srgbClr val="17252C"/>
                    </a:solidFill>
                  </a:tcPr>
                </a:tc>
                <a:tc>
                  <a:txBody>
                    <a:bodyPr/>
                    <a:lstStyle/>
                    <a:p>
                      <a:r>
                        <a:rPr sz="2025" b="1">
                          <a:solidFill>
                            <a:srgbClr val="FFFFFF"/>
                          </a:solidFill>
                          <a:latin typeface="Arial"/>
                          <a:ea typeface="Arial"/>
                          <a:cs typeface="Arial"/>
                        </a:rPr>
                        <a:t>Request and configuration</a:t>
                      </a:r>
                    </a:p>
                  </a:txBody>
                  <a:tcPr marL="133350" marR="133350" marT="76200" marB="76200" anchor="ctr">
                    <a:solidFill>
                      <a:srgbClr val="17252C"/>
                    </a:solidFill>
                  </a:tcPr>
                </a:tc>
                <a:tc>
                  <a:txBody>
                    <a:bodyPr/>
                    <a:lstStyle/>
                    <a:p>
                      <a:r>
                        <a:rPr sz="2025" b="1">
                          <a:solidFill>
                            <a:srgbClr val="FFFFFF"/>
                          </a:solidFill>
                          <a:latin typeface="Arial"/>
                          <a:ea typeface="Arial"/>
                          <a:cs typeface="Arial"/>
                        </a:rPr>
                        <a:t>Observed outcome</a:t>
                      </a:r>
                    </a:p>
                  </a:txBody>
                  <a:tcPr marL="133350" marR="133350" marT="76200" marB="76200" anchor="ctr">
                    <a:solidFill>
                      <a:srgbClr val="17252C"/>
                    </a:solidFill>
                  </a:tcPr>
                </a:tc>
              </a:tr>
              <a:tr h="685800">
                <a:tc>
                  <a:txBody>
                    <a:bodyPr/>
                    <a:lstStyle/>
                    <a:p>
                      <a:r>
                        <a:rPr sz="2025">
                          <a:solidFill>
                            <a:srgbClr val="17252C"/>
                          </a:solidFill>
                          <a:latin typeface="Arial"/>
                          <a:ea typeface="Arial"/>
                          <a:cs typeface="Arial"/>
                        </a:rPr>
                        <a:t>1</a:t>
                      </a:r>
                    </a:p>
                  </a:txBody>
                  <a:tcPr marL="133350" marR="133350" marT="76200" marB="76200" anchor="ctr">
                    <a:solidFill>
                      <a:srgbClr val="F6F6F2"/>
                    </a:solidFill>
                  </a:tcPr>
                </a:tc>
                <a:tc>
                  <a:txBody>
                    <a:bodyPr/>
                    <a:lstStyle/>
                    <a:p>
                      <a:r>
                        <a:rPr sz="2025">
                          <a:solidFill>
                            <a:srgbClr val="17252C"/>
                          </a:solidFill>
                          <a:latin typeface="Arial"/>
                          <a:ea typeface="Arial"/>
                          <a:cs typeface="Arial"/>
                        </a:rPr>
                        <a:t>Wrong password / baseline</a:t>
                      </a:r>
                    </a:p>
                  </a:txBody>
                  <a:tcPr marL="133350" marR="133350" marT="76200" marB="76200" anchor="ctr">
                    <a:solidFill>
                      <a:srgbClr val="F6F6F2"/>
                    </a:solidFill>
                  </a:tcPr>
                </a:tc>
                <a:tc>
                  <a:txBody>
                    <a:bodyPr/>
                    <a:lstStyle/>
                    <a:p>
                      <a:r>
                        <a:rPr sz="2025">
                          <a:solidFill>
                            <a:srgbClr val="17252C"/>
                          </a:solidFill>
                          <a:latin typeface="Arial"/>
                          <a:ea typeface="Arial"/>
                          <a:cs typeface="Arial"/>
                        </a:rPr>
                        <a:t>401; access denied</a:t>
                      </a:r>
                    </a:p>
                  </a:txBody>
                  <a:tcPr marL="133350" marR="133350" marT="76200" marB="76200" anchor="ctr">
                    <a:solidFill>
                      <a:srgbClr val="F6F6F2"/>
                    </a:solidFill>
                  </a:tcPr>
                </a:tc>
              </a:tr>
              <a:tr h="685800">
                <a:tc>
                  <a:txBody>
                    <a:bodyPr/>
                    <a:lstStyle/>
                    <a:p>
                      <a:r>
                        <a:rPr sz="2025">
                          <a:solidFill>
                            <a:srgbClr val="17252C"/>
                          </a:solidFill>
                          <a:latin typeface="Arial"/>
                          <a:ea typeface="Arial"/>
                          <a:cs typeface="Arial"/>
                        </a:rPr>
                        <a:t>2</a:t>
                      </a:r>
                    </a:p>
                  </a:txBody>
                  <a:tcPr marL="133350" marR="133350" marT="76200" marB="76200" anchor="ctr">
                    <a:solidFill>
                      <a:srgbClr val="F6F6F2"/>
                    </a:solidFill>
                  </a:tcPr>
                </a:tc>
                <a:tc>
                  <a:txBody>
                    <a:bodyPr/>
                    <a:lstStyle/>
                    <a:p>
                      <a:r>
                        <a:rPr sz="2025">
                          <a:solidFill>
                            <a:srgbClr val="17252C"/>
                          </a:solidFill>
                          <a:latin typeface="Arial"/>
                          <a:ea typeface="Arial"/>
                          <a:cs typeface="Arial"/>
                        </a:rPr>
                        <a:t>Operator object / baseline</a:t>
                      </a:r>
                    </a:p>
                  </a:txBody>
                  <a:tcPr marL="133350" marR="133350" marT="76200" marB="76200" anchor="ctr">
                    <a:solidFill>
                      <a:srgbClr val="F6F6F2"/>
                    </a:solidFill>
                  </a:tcPr>
                </a:tc>
                <a:tc>
                  <a:txBody>
                    <a:bodyPr/>
                    <a:lstStyle/>
                    <a:p>
                      <a:r>
                        <a:rPr sz="2025">
                          <a:solidFill>
                            <a:srgbClr val="17252C"/>
                          </a:solidFill>
                          <a:latin typeface="Arial"/>
                          <a:ea typeface="Arial"/>
                          <a:cs typeface="Arial"/>
                        </a:rPr>
                        <a:t>200; Alice session</a:t>
                      </a:r>
                    </a:p>
                  </a:txBody>
                  <a:tcPr marL="133350" marR="133350" marT="76200" marB="76200" anchor="ctr">
                    <a:solidFill>
                      <a:srgbClr val="F6F6F2"/>
                    </a:solidFill>
                  </a:tcPr>
                </a:tc>
              </a:tr>
              <a:tr h="685800">
                <a:tc>
                  <a:txBody>
                    <a:bodyPr/>
                    <a:lstStyle/>
                    <a:p>
                      <a:r>
                        <a:rPr sz="2025">
                          <a:solidFill>
                            <a:srgbClr val="17252C"/>
                          </a:solidFill>
                          <a:latin typeface="Arial"/>
                          <a:ea typeface="Arial"/>
                          <a:cs typeface="Arial"/>
                        </a:rPr>
                        <a:t>3</a:t>
                      </a:r>
                    </a:p>
                  </a:txBody>
                  <a:tcPr marL="133350" marR="133350" marT="76200" marB="76200" anchor="ctr">
                    <a:solidFill>
                      <a:srgbClr val="F6F6F2"/>
                    </a:solidFill>
                  </a:tcPr>
                </a:tc>
                <a:tc>
                  <a:txBody>
                    <a:bodyPr/>
                    <a:lstStyle/>
                    <a:p>
                      <a:r>
                        <a:rPr sz="2025">
                          <a:solidFill>
                            <a:srgbClr val="17252C"/>
                          </a:solidFill>
                          <a:latin typeface="Arial"/>
                          <a:ea typeface="Arial"/>
                          <a:cs typeface="Arial"/>
                        </a:rPr>
                        <a:t>Same object / hardened</a:t>
                      </a:r>
                    </a:p>
                  </a:txBody>
                  <a:tcPr marL="133350" marR="133350" marT="76200" marB="76200" anchor="ctr">
                    <a:solidFill>
                      <a:srgbClr val="F6F6F2"/>
                    </a:solidFill>
                  </a:tcPr>
                </a:tc>
                <a:tc>
                  <a:txBody>
                    <a:bodyPr/>
                    <a:lstStyle/>
                    <a:p>
                      <a:r>
                        <a:rPr sz="2025">
                          <a:solidFill>
                            <a:srgbClr val="17252C"/>
                          </a:solidFill>
                          <a:latin typeface="Arial"/>
                          <a:ea typeface="Arial"/>
                          <a:cs typeface="Arial"/>
                        </a:rPr>
                        <a:t>400; zero find commands</a:t>
                      </a:r>
                    </a:p>
                  </a:txBody>
                  <a:tcPr marL="133350" marR="133350" marT="76200" marB="76200" anchor="ctr">
                    <a:solidFill>
                      <a:srgbClr val="F6F6F2"/>
                    </a:solidFill>
                  </a:tcPr>
                </a:tc>
              </a:tr>
              <a:tr h="685800">
                <a:tc>
                  <a:txBody>
                    <a:bodyPr/>
                    <a:lstStyle/>
                    <a:p>
                      <a:r>
                        <a:rPr sz="2025">
                          <a:solidFill>
                            <a:srgbClr val="17252C"/>
                          </a:solidFill>
                          <a:latin typeface="Arial"/>
                          <a:ea typeface="Arial"/>
                          <a:cs typeface="Arial"/>
                        </a:rPr>
                        <a:t>4</a:t>
                      </a:r>
                    </a:p>
                  </a:txBody>
                  <a:tcPr marL="133350" marR="133350" marT="76200" marB="76200" anchor="ctr">
                    <a:solidFill>
                      <a:srgbClr val="F6F6F2"/>
                    </a:solidFill>
                  </a:tcPr>
                </a:tc>
                <a:tc>
                  <a:txBody>
                    <a:bodyPr/>
                    <a:lstStyle/>
                    <a:p>
                      <a:r>
                        <a:rPr sz="2025">
                          <a:solidFill>
                            <a:srgbClr val="17252C"/>
                          </a:solidFill>
                          <a:latin typeface="Arial"/>
                          <a:ea typeface="Arial"/>
                          <a:cs typeface="Arial"/>
                        </a:rPr>
                        <a:t>Valid credentials / hardened</a:t>
                      </a:r>
                    </a:p>
                  </a:txBody>
                  <a:tcPr marL="133350" marR="133350" marT="76200" marB="76200" anchor="ctr">
                    <a:solidFill>
                      <a:srgbClr val="F6F6F2"/>
                    </a:solidFill>
                  </a:tcPr>
                </a:tc>
                <a:tc>
                  <a:txBody>
                    <a:bodyPr/>
                    <a:lstStyle/>
                    <a:p>
                      <a:r>
                        <a:rPr sz="2025">
                          <a:solidFill>
                            <a:srgbClr val="17252C"/>
                          </a:solidFill>
                          <a:latin typeface="Arial"/>
                          <a:ea typeface="Arial"/>
                          <a:cs typeface="Arial"/>
                        </a:rPr>
                        <a:t>200; Alice session</a:t>
                      </a:r>
                    </a:p>
                  </a:txBody>
                  <a:tcPr marL="133350" marR="133350" marT="76200" marB="76200" anchor="ctr">
                    <a:solidFill>
                      <a:srgbClr val="F6F6F2"/>
                    </a:solidFill>
                  </a:tcPr>
                </a:tc>
              </a:tr>
            </a:tbl>
          </a:graphicData>
        </a:graphic>
      </p:graphicFrame>
      <p:sp>
        <p:nvSpPr>
          <p:cNvPr id="4" name="">
            <a:extLst xmlns:a="http://schemas.openxmlformats.org/drawingml/2006/main">
              <a:ext uri="{FF2B5EF4-FFF2-40B4-BE49-F238E27FC236}">
                <a16:creationId xmlns:a16="http://schemas.microsoft.com/office/drawing/2014/main" id="{78E91CF0-B7F1-40F1-A32B-C5DB77FD48FB}"/>
              </a:ext>
            </a:extLst>
          </p:cNvPr>
          <p:cNvSpPr>
            <a:spLocks xmlns:a="http://schemas.openxmlformats.org/drawingml/2006/main" noGrp="1"/>
          </p:cNvSpPr>
          <p:nvPr/>
        </p:nvSpPr>
        <p:spPr>
          <a:xfrm xmlns:a="http://schemas.openxmlformats.org/drawingml/2006/main">
            <a:off x="609600" y="55721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275A80"/>
                </a:solidFill>
                <a:latin typeface="Arial"/>
                <a:ea typeface="Arial"/>
                <a:cs typeface="Arial"/>
              </a:defRPr>
            </a:defPPr>
          </a:lstStyle>
          <a:p xmlns:a="http://schemas.openxmlformats.org/drawingml/2006/main">
            <a:pPr>
              <a:defRPr sz="2175" b="0">
                <a:solidFill>
                  <a:srgbClr val="275A80"/>
                </a:solidFill>
                <a:latin typeface="Arial"/>
                <a:ea typeface="Arial"/>
                <a:cs typeface="Arial"/>
              </a:defRPr>
            </a:pPr>
            <a:r>
              <a:rPr sz="2175" b="0">
                <a:solidFill>
                  <a:srgbClr val="275A80"/>
                </a:solidFill>
                <a:latin typeface="Arial"/>
                <a:ea typeface="Arial"/>
                <a:cs typeface="Arial"/>
              </a:rPr>
              <a:t>Open local lab: </a:t>
            </a:r>
            <a:r>
              <a:rPr sz="2175" b="0">
                <a:solidFill>
                  <a:srgbClr val="275A80"/>
                </a:solidFill>
                <a:latin typeface="Arial"/>
                <a:ea typeface="Arial"/>
                <a:cs typeface="Arial"/>
                <a:hlinkClick xmlns:r="http://schemas.openxmlformats.org/officeDocument/2006/relationships" r:id="Ra7f71cf348b54e21"/>
              </a:rPr>
              <a:t>http://127.0.0.1:4400</a:t>
            </a:r>
          </a:p>
        </p:txBody>
      </p:sp>
    </p:spTree>
    <p:extLst>
      <p:ext uri="{BB962C8B-B14F-4D97-AF65-F5344CB8AC3E}">
        <p14:creationId xmlns:p14="http://schemas.microsoft.com/office/powerpoint/2010/main" val="2059555783"/>
      </p:ext>
    </p:extLst>
  </p:cSld>
</p:sld>
</file>

<file path=ppt/slides/slide9.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7C721F0-9737-43CF-9AB8-9EB12607A84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Results identify the effective boundary</a:t>
            </a:r>
          </a:p>
        </p:txBody>
      </p:sp>
      <p:sp>
        <p:nvSpPr>
          <p:cNvPr id="2" name="">
            <a:extLst xmlns:a="http://schemas.openxmlformats.org/drawingml/2006/main">
              <a:ext uri="{FF2B5EF4-FFF2-40B4-BE49-F238E27FC236}">
                <a16:creationId xmlns:a16="http://schemas.microsoft.com/office/drawing/2014/main" id="{86A19571-5432-4D33-87D3-6E3FE4E501D0}"/>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56B378AB-E52C-49BF-869D-C2691E94F19E}"/>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1616A"/>
                </a:solidFill>
                <a:latin typeface="Arial"/>
                <a:ea typeface="Arial"/>
                <a:cs typeface="Arial"/>
              </a:defRPr>
            </a:defPPr>
          </a:lstStyle>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Measured C01, C02 and C04; 15 cases × 5 configurations × 2 repetitions</a:t>
            </a:r>
          </a:p>
        </p:txBody>
      </p:sp>
      <p:graphicFrame>
        <p:nvGraphicFramePr>
          <p:cNvPr id="4" name="">
            <a:extLst xmlns:a="http://schemas.openxmlformats.org/drawingml/2006/main">
              <a:ext uri="{FF2B5EF4-FFF2-40B4-BE49-F238E27FC236}">
                <a16:creationId xmlns:a16="http://schemas.microsoft.com/office/drawing/2014/main" id="{81433F3E-7A83-4BA1-B209-251BF692FD45}"/>
              </a:ext>
            </a:extLst>
          </p:cNvPr>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a:tblGrid>
                <a:gridCol w="3905250"/>
                <a:gridCol w="2619375"/>
                <a:gridCol w="2286000"/>
                <a:gridCol w="2162175"/>
              </a:tblGrid>
              <a:tr h="619125">
                <a:tc>
                  <a:txBody>
                    <a:bodyPr/>
                    <a:lstStyle/>
                    <a:p>
                      <a:r>
                        <a:rPr sz="1950" b="1">
                          <a:solidFill>
                            <a:srgbClr val="FFFFFF"/>
                          </a:solidFill>
                          <a:latin typeface="Arial"/>
                          <a:ea typeface="Arial"/>
                          <a:cs typeface="Arial"/>
                        </a:rPr>
                        <a:t>Configuration</a:t>
                      </a:r>
                    </a:p>
                  </a:txBody>
                  <a:tcPr marL="133350" marR="133350" marT="76200" marB="76200" anchor="ctr">
                    <a:solidFill>
                      <a:srgbClr val="17252C"/>
                    </a:solidFill>
                  </a:tcPr>
                </a:tc>
                <a:tc>
                  <a:txBody>
                    <a:bodyPr/>
                    <a:lstStyle/>
                    <a:p>
                      <a:r>
                        <a:rPr sz="1950" b="1">
                          <a:solidFill>
                            <a:srgbClr val="FFFFFF"/>
                          </a:solidFill>
                          <a:latin typeface="Arial"/>
                          <a:ea typeface="Arial"/>
                          <a:cs typeface="Arial"/>
                        </a:rPr>
                        <a:t>C04 login</a:t>
                      </a:r>
                    </a:p>
                  </a:txBody>
                  <a:tcPr marL="133350" marR="133350" marT="76200" marB="76200" anchor="ctr">
                    <a:solidFill>
                      <a:srgbClr val="17252C"/>
                    </a:solidFill>
                  </a:tcPr>
                </a:tc>
                <a:tc>
                  <a:txBody>
                    <a:bodyPr/>
                    <a:lstStyle/>
                    <a:p>
                      <a:r>
                        <a:rPr sz="1950" b="1">
                          <a:solidFill>
                            <a:srgbClr val="FFFFFF"/>
                          </a:solidFill>
                          <a:latin typeface="Arial"/>
                          <a:ea typeface="Arial"/>
                          <a:cs typeface="Arial"/>
                        </a:rPr>
                        <a:t>Find commands</a:t>
                      </a:r>
                    </a:p>
                  </a:txBody>
                  <a:tcPr marL="133350" marR="133350" marT="76200" marB="76200" anchor="ctr">
                    <a:solidFill>
                      <a:srgbClr val="17252C"/>
                    </a:solidFill>
                  </a:tcPr>
                </a:tc>
                <a:tc>
                  <a:txBody>
                    <a:bodyPr/>
                    <a:lstStyle/>
                    <a:p>
                      <a:r>
                        <a:rPr sz="1950" b="1">
                          <a:solidFill>
                            <a:srgbClr val="FFFFFF"/>
                          </a:solidFill>
                          <a:latin typeface="Arial"/>
                          <a:ea typeface="Arial"/>
                          <a:cs typeface="Arial"/>
                        </a:rPr>
                        <a:t>Valid login</a:t>
                      </a:r>
                    </a:p>
                  </a:txBody>
                  <a:tcPr marL="133350" marR="133350" marT="76200" marB="76200" anchor="ctr">
                    <a:solidFill>
                      <a:srgbClr val="17252C"/>
                    </a:solidFill>
                  </a:tcPr>
                </a:tc>
              </a:tr>
              <a:tr h="619125">
                <a:tc>
                  <a:txBody>
                    <a:bodyPr/>
                    <a:lstStyle/>
                    <a:p>
                      <a:r>
                        <a:rPr sz="1950">
                          <a:solidFill>
                            <a:srgbClr val="17252C"/>
                          </a:solidFill>
                          <a:latin typeface="Arial"/>
                          <a:ea typeface="Arial"/>
                          <a:cs typeface="Arial"/>
                        </a:rPr>
                        <a:t>Baseline</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 / Alice</a:t>
                      </a:r>
                    </a:p>
                  </a:txBody>
                  <a:tcPr marL="133350" marR="133350" marT="76200" marB="76200" anchor="ctr">
                    <a:solidFill>
                      <a:srgbClr val="F6F6F2"/>
                    </a:solidFill>
                  </a:tcPr>
                </a:tc>
                <a:tc>
                  <a:txBody>
                    <a:bodyPr/>
                    <a:lstStyle/>
                    <a:p>
                      <a:r>
                        <a:rPr sz="1950">
                          <a:solidFill>
                            <a:srgbClr val="17252C"/>
                          </a:solidFill>
                          <a:latin typeface="Arial"/>
                          <a:ea typeface="Arial"/>
                          <a:cs typeface="Arial"/>
                        </a:rPr>
                        <a:t>1</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r h="619125">
                <a:tc>
                  <a:txBody>
                    <a:bodyPr/>
                    <a:lstStyle/>
                    <a:p>
                      <a:r>
                        <a:rPr sz="1950">
                          <a:solidFill>
                            <a:srgbClr val="17252C"/>
                          </a:solidFill>
                          <a:latin typeface="Arial"/>
                          <a:ea typeface="Arial"/>
                          <a:cs typeface="Arial"/>
                        </a:rPr>
                        <a:t>JavaScript disabled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 / Alice</a:t>
                      </a:r>
                    </a:p>
                  </a:txBody>
                  <a:tcPr marL="133350" marR="133350" marT="76200" marB="76200" anchor="ctr">
                    <a:solidFill>
                      <a:srgbClr val="F6F6F2"/>
                    </a:solidFill>
                  </a:tcPr>
                </a:tc>
                <a:tc>
                  <a:txBody>
                    <a:bodyPr/>
                    <a:lstStyle/>
                    <a:p>
                      <a:r>
                        <a:rPr sz="1950">
                          <a:solidFill>
                            <a:srgbClr val="17252C"/>
                          </a:solidFill>
                          <a:latin typeface="Arial"/>
                          <a:ea typeface="Arial"/>
                          <a:cs typeface="Arial"/>
                        </a:rPr>
                        <a:t>1</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r h="619125">
                <a:tc>
                  <a:txBody>
                    <a:bodyPr/>
                    <a:lstStyle/>
                    <a:p>
                      <a:r>
                        <a:rPr sz="1950">
                          <a:solidFill>
                            <a:srgbClr val="17252C"/>
                          </a:solidFill>
                          <a:latin typeface="Arial"/>
                          <a:ea typeface="Arial"/>
                          <a:cs typeface="Arial"/>
                        </a:rPr>
                        <a:t>Read-only account</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 / Alice</a:t>
                      </a:r>
                    </a:p>
                  </a:txBody>
                  <a:tcPr marL="133350" marR="133350" marT="76200" marB="76200" anchor="ctr">
                    <a:solidFill>
                      <a:srgbClr val="F6F6F2"/>
                    </a:solidFill>
                  </a:tcPr>
                </a:tc>
                <a:tc>
                  <a:txBody>
                    <a:bodyPr/>
                    <a:lstStyle/>
                    <a:p>
                      <a:r>
                        <a:rPr sz="1950">
                          <a:solidFill>
                            <a:srgbClr val="17252C"/>
                          </a:solidFill>
                          <a:latin typeface="Arial"/>
                          <a:ea typeface="Arial"/>
                          <a:cs typeface="Arial"/>
                        </a:rPr>
                        <a:t>1</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r h="619125">
                <a:tc>
                  <a:txBody>
                    <a:bodyPr/>
                    <a:lstStyle/>
                    <a:p>
                      <a:r>
                        <a:rPr sz="1950">
                          <a:solidFill>
                            <a:srgbClr val="17252C"/>
                          </a:solidFill>
                          <a:latin typeface="Arial"/>
                          <a:ea typeface="Arial"/>
                          <a:cs typeface="Arial"/>
                        </a:rPr>
                        <a:t>String validation only</a:t>
                      </a:r>
                    </a:p>
                  </a:txBody>
                  <a:tcPr marL="133350" marR="133350" marT="76200" marB="76200" anchor="ctr">
                    <a:solidFill>
                      <a:srgbClr val="F6F6F2"/>
                    </a:solidFill>
                  </a:tcPr>
                </a:tc>
                <a:tc>
                  <a:txBody>
                    <a:bodyPr/>
                    <a:lstStyle/>
                    <a:p>
                      <a:r>
                        <a:rPr sz="1950">
                          <a:solidFill>
                            <a:srgbClr val="17252C"/>
                          </a:solidFill>
                          <a:latin typeface="Arial"/>
                          <a:ea typeface="Arial"/>
                          <a:cs typeface="Arial"/>
                        </a:rPr>
                        <a:t>400 / rejected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0</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r h="619125">
                <a:tc>
                  <a:txBody>
                    <a:bodyPr/>
                    <a:lstStyle/>
                    <a:p>
                      <a:r>
                        <a:rPr sz="1950">
                          <a:solidFill>
                            <a:srgbClr val="17252C"/>
                          </a:solidFill>
                          <a:latin typeface="Arial"/>
                          <a:ea typeface="Arial"/>
                          <a:cs typeface="Arial"/>
                        </a:rPr>
                        <a:t>Full hardened path</a:t>
                      </a:r>
                    </a:p>
                  </a:txBody>
                  <a:tcPr marL="133350" marR="133350" marT="76200" marB="76200" anchor="ctr">
                    <a:solidFill>
                      <a:srgbClr val="F6F6F2"/>
                    </a:solidFill>
                  </a:tcPr>
                </a:tc>
                <a:tc>
                  <a:txBody>
                    <a:bodyPr/>
                    <a:lstStyle/>
                    <a:p>
                      <a:r>
                        <a:rPr sz="1950">
                          <a:solidFill>
                            <a:srgbClr val="17252C"/>
                          </a:solidFill>
                          <a:latin typeface="Arial"/>
                          <a:ea typeface="Arial"/>
                          <a:cs typeface="Arial"/>
                        </a:rPr>
                        <a:t>400 / rejected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0</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bl>
          </a:graphicData>
        </a:graphic>
      </p:graphicFrame>
      <p:sp>
        <p:nvSpPr>
          <p:cNvPr id="5" name="">
            <a:extLst xmlns:a="http://schemas.openxmlformats.org/drawingml/2006/main">
              <a:ext uri="{FF2B5EF4-FFF2-40B4-BE49-F238E27FC236}">
                <a16:creationId xmlns:a16="http://schemas.microsoft.com/office/drawing/2014/main" id="{B3CEB210-ADCC-4635-9973-8463EF0F4114}"/>
              </a:ext>
            </a:extLst>
          </p:cNvPr>
          <p:cNvSpPr>
            <a:spLocks xmlns:a="http://schemas.openxmlformats.org/drawingml/2006/main" noGrp="1"/>
          </p:cNvSpPr>
          <p:nvPr/>
        </p:nvSpPr>
        <p:spPr>
          <a:xfrm xmlns:a="http://schemas.openxmlformats.org/drawingml/2006/main">
            <a:off x="609600" y="54102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1616A"/>
                </a:solidFill>
                <a:latin typeface="Arial"/>
                <a:ea typeface="Arial"/>
                <a:cs typeface="Arial"/>
              </a:defRPr>
            </a:defPPr>
          </a:lstStyle>
          <a:p xmlns:a="http://schemas.openxmlformats.org/drawingml/2006/main">
            <a:pPr>
              <a:defRPr sz="1875" b="0">
                <a:solidFill>
                  <a:srgbClr val="51616A"/>
                </a:solidFill>
                <a:latin typeface="Arial"/>
                <a:ea typeface="Arial"/>
                <a:cs typeface="Arial"/>
              </a:defRPr>
            </a:pPr>
            <a:r>
              <a:rPr sz="1875" b="0">
                <a:solidFill>
                  <a:srgbClr val="51616A"/>
                </a:solidFill>
                <a:latin typeface="Arial"/>
                <a:ea typeface="Arial"/>
                <a:cs typeface="Arial"/>
              </a:rPr>
              <a:t>Wrong string passwords return 401 in every configuration</a:t>
            </a:r>
          </a:p>
        </p:txBody>
      </p:sp>
      <p:sp>
        <p:nvSpPr>
          <p:cNvPr id="6" name="">
            <a:extLst xmlns:a="http://schemas.openxmlformats.org/drawingml/2006/main">
              <a:ext uri="{FF2B5EF4-FFF2-40B4-BE49-F238E27FC236}">
                <a16:creationId xmlns:a16="http://schemas.microsoft.com/office/drawing/2014/main" id="{A9A6987B-8AAA-414D-BF5F-4755E0019727}"/>
              </a:ext>
            </a:extLst>
          </p:cNvPr>
          <p:cNvSpPr>
            <a:spLocks xmlns:a="http://schemas.openxmlformats.org/drawingml/2006/main" noGrp="1"/>
          </p:cNvSpPr>
          <p:nvPr/>
        </p:nvSpPr>
        <p:spPr>
          <a:xfrm xmlns:a="http://schemas.openxmlformats.org/drawingml/2006/main">
            <a:off x="609600" y="58197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AF3047"/>
                </a:solidFill>
                <a:latin typeface="Arial"/>
                <a:ea typeface="Arial"/>
                <a:cs typeface="Arial"/>
              </a:defRPr>
            </a:defPPr>
          </a:lstStyle>
          <a:p xmlns:a="http://schemas.openxmlformats.org/drawingml/2006/main">
            <a:pPr>
              <a:defRPr sz="2175" b="1">
                <a:solidFill>
                  <a:srgbClr val="AF3047"/>
                </a:solidFill>
                <a:latin typeface="Arial"/>
                <a:ea typeface="Arial"/>
                <a:cs typeface="Arial"/>
              </a:defRPr>
            </a:pPr>
            <a:r>
              <a:rPr sz="2175" b="1">
                <a:solidFill>
                  <a:srgbClr val="AF3047"/>
                </a:solidFill>
                <a:latin typeface="Arial"/>
                <a:ea typeface="Arial"/>
                <a:cs typeface="Arial"/>
              </a:rPr>
              <a:t>Validation stops the tested bypass before a database read</a:t>
            </a:r>
          </a:p>
        </p:txBody>
      </p:sp>
    </p:spTree>
    <p:extLst>
      <p:ext uri="{BB962C8B-B14F-4D97-AF65-F5344CB8AC3E}">
        <p14:creationId xmlns:p14="http://schemas.microsoft.com/office/powerpoint/2010/main" val="959338413"/>
      </p:ext>
    </p:extLst>
  </p:cSld>
</p:sld>
</file>

<file path=ppt/slides/slide10.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31E97F1-7D5A-482D-94EE-EA03744464DA}"/>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Validation and independent credential verification</a:t>
            </a:r>
          </a:p>
        </p:txBody>
      </p:sp>
      <p:sp>
        <p:nvSpPr>
          <p:cNvPr id="2" name="">
            <a:extLst xmlns:a="http://schemas.openxmlformats.org/drawingml/2006/main">
              <a:ext uri="{FF2B5EF4-FFF2-40B4-BE49-F238E27FC236}">
                <a16:creationId xmlns:a16="http://schemas.microsoft.com/office/drawing/2014/main" id="{2039B33F-E598-46F6-9E59-583E1F912A41}"/>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AA2DE6DE-5E97-4A61-A674-12990281964E}"/>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1616A"/>
                </a:solidFill>
                <a:latin typeface="Arial"/>
                <a:ea typeface="Arial"/>
                <a:cs typeface="Arial"/>
              </a:defRPr>
            </a:defPPr>
          </a:lstStyle>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src/server.mjs, src/passwords.mjs; scrypt N=131072, r=8, p=1</a:t>
            </a:r>
          </a:p>
        </p:txBody>
      </p:sp>
      <p:sp>
        <p:nvSpPr>
          <p:cNvPr id="4" name="">
            <a:extLst xmlns:a="http://schemas.openxmlformats.org/drawingml/2006/main">
              <a:ext uri="{FF2B5EF4-FFF2-40B4-BE49-F238E27FC236}">
                <a16:creationId xmlns:a16="http://schemas.microsoft.com/office/drawing/2014/main" id="{E622B1DB-136C-4D56-B254-0612F4FDF556}"/>
              </a:ext>
            </a:extLst>
          </p:cNvPr>
          <p:cNvSpPr>
            <a:spLocks xmlns:a="http://schemas.openxmlformats.org/drawingml/2006/main" noGrp="1"/>
          </p:cNvSpPr>
          <p:nvPr/>
        </p:nvSpPr>
        <p:spPr>
          <a:xfrm xmlns:a="http://schemas.openxmlformats.org/drawingml/2006/main">
            <a:off x="609600" y="16573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87B6D"/>
                </a:solidFill>
                <a:latin typeface="Arial"/>
                <a:ea typeface="Arial"/>
                <a:cs typeface="Arial"/>
              </a:defRPr>
            </a:defPPr>
          </a:lstStyle>
          <a:p xmlns:a="http://schemas.openxmlformats.org/drawingml/2006/main">
            <a:pPr>
              <a:defRPr sz="1725" b="1">
                <a:solidFill>
                  <a:srgbClr val="087B6D"/>
                </a:solidFill>
                <a:latin typeface="Arial"/>
                <a:ea typeface="Arial"/>
                <a:cs typeface="Arial"/>
              </a:defRPr>
            </a:pPr>
            <a:r>
              <a:rPr sz="1725" b="1">
                <a:solidFill>
                  <a:srgbClr val="087B6D"/>
                </a:solidFill>
                <a:latin typeface="Arial"/>
                <a:ea typeface="Arial"/>
                <a:cs typeface="Arial"/>
              </a:rPr>
              <a:t>ISOLATED FIX</a:t>
            </a:r>
          </a:p>
        </p:txBody>
      </p:sp>
      <p:sp>
        <p:nvSpPr>
          <p:cNvPr id="5" name="">
            <a:extLst xmlns:a="http://schemas.openxmlformats.org/drawingml/2006/main">
              <a:ext uri="{FF2B5EF4-FFF2-40B4-BE49-F238E27FC236}">
                <a16:creationId xmlns:a16="http://schemas.microsoft.com/office/drawing/2014/main" id="{4846CD58-72C3-4C37-801B-70E40F1F35A7}"/>
              </a:ext>
            </a:extLst>
          </p:cNvPr>
          <p:cNvSpPr>
            <a:spLocks xmlns:a="http://schemas.openxmlformats.org/drawingml/2006/main" noGrp="1"/>
          </p:cNvSpPr>
          <p:nvPr/>
        </p:nvSpPr>
        <p:spPr>
          <a:xfrm xmlns:a="http://schemas.openxmlformats.org/drawingml/2006/main">
            <a:off x="609600" y="213360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087B6D"/>
                </a:solidFill>
                <a:latin typeface="Courier New"/>
                <a:ea typeface="Courier New"/>
                <a:cs typeface="Courier New"/>
              </a:defRPr>
            </a:defPPr>
          </a:lstStyle>
          <a:p xmlns:a="http://schemas.openxmlformats.org/drawingml/2006/main">
            <a:pPr>
              <a:defRPr sz="2550" b="0">
                <a:solidFill>
                  <a:srgbClr val="087B6D"/>
                </a:solidFill>
                <a:latin typeface="Courier New"/>
                <a:ea typeface="Courier New"/>
                <a:cs typeface="Courier New"/>
              </a:defRPr>
            </a:pPr>
            <a:r>
              <a:rPr sz="2550" b="0">
                <a:solidFill>
                  <a:srgbClr val="087B6D"/>
                </a:solidFill>
                <a:latin typeface="Courier New"/>
                <a:ea typeface="Courier New"/>
                <a:cs typeface="Courier New"/>
              </a:rPr>
              <a:t>typeof username === "string"</a:t>
            </a:r>
          </a:p>
          <a:p xmlns:a="http://schemas.openxmlformats.org/drawingml/2006/main">
            <a:pPr>
              <a:defRPr sz="2550" b="0">
                <a:solidFill>
                  <a:srgbClr val="087B6D"/>
                </a:solidFill>
                <a:latin typeface="Courier New"/>
                <a:ea typeface="Courier New"/>
                <a:cs typeface="Courier New"/>
              </a:defRPr>
            </a:pPr>
            <a:r>
              <a:rPr sz="2550" b="0">
                <a:solidFill>
                  <a:srgbClr val="087B6D"/>
                </a:solidFill>
                <a:latin typeface="Courier New"/>
                <a:ea typeface="Courier New"/>
                <a:cs typeface="Courier New"/>
              </a:rPr>
              <a:t>typeof password === "string"</a:t>
            </a:r>
          </a:p>
        </p:txBody>
      </p:sp>
      <p:sp>
        <p:nvSpPr>
          <p:cNvPr id="6" name="">
            <a:extLst xmlns:a="http://schemas.openxmlformats.org/drawingml/2006/main">
              <a:ext uri="{FF2B5EF4-FFF2-40B4-BE49-F238E27FC236}">
                <a16:creationId xmlns:a16="http://schemas.microsoft.com/office/drawing/2014/main" id="{F0D5ECA3-3998-49A1-8069-226775D2C6BC}"/>
              </a:ext>
            </a:extLst>
          </p:cNvPr>
          <p:cNvSpPr>
            <a:spLocks xmlns:a="http://schemas.openxmlformats.org/drawingml/2006/main" noGrp="1"/>
          </p:cNvSpPr>
          <p:nvPr/>
        </p:nvSpPr>
        <p:spPr>
          <a:xfrm xmlns:a="http://schemas.openxmlformats.org/drawingml/2006/main">
            <a:off x="609600" y="36576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87B6D"/>
                </a:solidFill>
                <a:latin typeface="Arial"/>
                <a:ea typeface="Arial"/>
                <a:cs typeface="Arial"/>
              </a:defRPr>
            </a:defPPr>
          </a:lstStyle>
          <a:p xmlns:a="http://schemas.openxmlformats.org/drawingml/2006/main">
            <a:pPr>
              <a:defRPr sz="1725" b="1">
                <a:solidFill>
                  <a:srgbClr val="087B6D"/>
                </a:solidFill>
                <a:latin typeface="Arial"/>
                <a:ea typeface="Arial"/>
                <a:cs typeface="Arial"/>
              </a:defRPr>
            </a:pPr>
            <a:r>
              <a:rPr sz="1725" b="1">
                <a:solidFill>
                  <a:srgbClr val="087B6D"/>
                </a:solidFill>
                <a:latin typeface="Arial"/>
                <a:ea typeface="Arial"/>
                <a:cs typeface="Arial"/>
              </a:rPr>
              <a:t>COMPLETE AUTHENTICATION PATH</a:t>
            </a:r>
          </a:p>
        </p:txBody>
      </p:sp>
      <p:sp>
        <p:nvSpPr>
          <p:cNvPr id="7" name="">
            <a:extLst xmlns:a="http://schemas.openxmlformats.org/drawingml/2006/main">
              <a:ext uri="{FF2B5EF4-FFF2-40B4-BE49-F238E27FC236}">
                <a16:creationId xmlns:a16="http://schemas.microsoft.com/office/drawing/2014/main" id="{2B9D0A92-DCFD-469E-93FF-AAEFBFB01D98}"/>
              </a:ext>
            </a:extLst>
          </p:cNvPr>
          <p:cNvSpPr>
            <a:spLocks xmlns:a="http://schemas.openxmlformats.org/drawingml/2006/main" noGrp="1"/>
          </p:cNvSpPr>
          <p:nvPr/>
        </p:nvSpPr>
        <p:spPr>
          <a:xfrm xmlns:a="http://schemas.openxmlformats.org/drawingml/2006/main">
            <a:off x="609600" y="4152900"/>
            <a:ext cx="10572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17252C"/>
                </a:solidFill>
                <a:latin typeface="Arial"/>
                <a:ea typeface="Arial"/>
                <a:cs typeface="Arial"/>
              </a:defRPr>
            </a:defPPr>
          </a:lstStyle>
          <a:p xmlns:a="http://schemas.openxmlformats.org/drawingml/2006/main">
            <a:pPr>
              <a:defRPr sz="2550" b="0">
                <a:solidFill>
                  <a:srgbClr val="17252C"/>
                </a:solidFill>
                <a:latin typeface="Arial"/>
                <a:ea typeface="Arial"/>
                <a:cs typeface="Arial"/>
              </a:defRPr>
            </a:pPr>
            <a:r>
              <a:rPr sz="2550" b="0">
                <a:solidFill>
                  <a:srgbClr val="17252C"/>
                </a:solidFill>
                <a:latin typeface="Arial"/>
                <a:ea typeface="Arial"/>
                <a:cs typeface="Arial"/>
              </a:rPr>
              <a:t>Validate request contract</a:t>
            </a:r>
          </a:p>
          <a:p xmlns:a="http://schemas.openxmlformats.org/drawingml/2006/main">
            <a:pPr>
              <a:defRPr sz="2550" b="0">
                <a:solidFill>
                  <a:srgbClr val="17252C"/>
                </a:solidFill>
                <a:latin typeface="Arial"/>
                <a:ea typeface="Arial"/>
                <a:cs typeface="Arial"/>
              </a:defRPr>
            </a:pPr>
            <a:r>
              <a:rPr sz="2550" b="0">
                <a:solidFill>
                  <a:srgbClr val="17252C"/>
                </a:solidFill>
                <a:latin typeface="Arial"/>
                <a:ea typeface="Arial"/>
                <a:cs typeface="Arial"/>
              </a:rPr>
              <a:t>Look up account by username</a:t>
            </a:r>
          </a:p>
          <a:p xmlns:a="http://schemas.openxmlformats.org/drawingml/2006/main">
            <a:pPr>
              <a:defRPr sz="2550" b="0">
                <a:solidFill>
                  <a:srgbClr val="17252C"/>
                </a:solidFill>
                <a:latin typeface="Arial"/>
                <a:ea typeface="Arial"/>
                <a:cs typeface="Arial"/>
              </a:defRPr>
            </a:pPr>
            <a:r>
              <a:rPr sz="2550" b="0">
                <a:solidFill>
                  <a:srgbClr val="17252C"/>
                </a:solidFill>
                <a:latin typeface="Arial"/>
                <a:ea typeface="Arial"/>
                <a:cs typeface="Arial"/>
              </a:rPr>
              <a:t>Verify password hash before creating a session</a:t>
            </a:r>
          </a:p>
        </p:txBody>
      </p:sp>
    </p:spTree>
    <p:extLst>
      <p:ext uri="{BB962C8B-B14F-4D97-AF65-F5344CB8AC3E}">
        <p14:creationId xmlns:p14="http://schemas.microsoft.com/office/powerpoint/2010/main" val="1245748754"/>
      </p:ext>
    </p:extLst>
  </p:cSld>
</p:sld>
</file>

<file path=ppt/slides/slide11.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D4EA529F-EA0D-4C1A-9361-D5A2C030B53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Operator injection and JavaScript injection</a:t>
            </a:r>
          </a:p>
        </p:txBody>
      </p:sp>
      <p:sp>
        <p:nvSpPr>
          <p:cNvPr id="2" name="">
            <a:extLst xmlns:a="http://schemas.openxmlformats.org/drawingml/2006/main">
              <a:ext uri="{FF2B5EF4-FFF2-40B4-BE49-F238E27FC236}">
                <a16:creationId xmlns:a16="http://schemas.microsoft.com/office/drawing/2014/main" id="{53128D20-48DF-4F64-BED8-CB30981781C5}"/>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E8713B7F-D3A4-4126-8035-599C316AD74D}"/>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1616A"/>
                </a:solidFill>
                <a:latin typeface="Arial"/>
                <a:ea typeface="Arial"/>
                <a:cs typeface="Arial"/>
              </a:defRPr>
            </a:defPPr>
          </a:lstStyle>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Ron et al., 2016 / MongoDB 7.0 $where documentation / OWASP NoSQL guidance</a:t>
            </a:r>
          </a:p>
        </p:txBody>
      </p:sp>
      <p:graphicFrame>
        <p:nvGraphicFramePr>
          <p:cNvPr id="4" name="">
            <a:extLst xmlns:a="http://schemas.openxmlformats.org/drawingml/2006/main">
              <a:ext uri="{FF2B5EF4-FFF2-40B4-BE49-F238E27FC236}">
                <a16:creationId xmlns:a16="http://schemas.microsoft.com/office/drawing/2014/main" id="{30635D8C-E223-4862-8F78-96E107C62017}"/>
              </a:ext>
            </a:extLst>
          </p:cNvPr>
          <p:cNvGraphicFramePr/>
          <p:nvPr/>
        </p:nvGraphicFramePr>
        <p:xfrm>
          <a:off xmlns:a="http://schemas.openxmlformats.org/drawingml/2006/main" x="609600" y="1619250"/>
          <a:ext xmlns:a="http://schemas.openxmlformats.org/drawingml/2006/main" cx="10972800" cy="3048000"/>
        </p:xfrm>
        <a:graphic xmlns:a="http://schemas.openxmlformats.org/drawingml/2006/main">
          <a:graphicData uri="http://schemas.openxmlformats.org/drawingml/2006/table">
            <a:tbl>
              <a:tblPr/>
              <a:tblGrid>
                <a:gridCol w="2381250"/>
                <a:gridCol w="4295775"/>
                <a:gridCol w="4295775"/>
              </a:tblGrid>
              <a:tr h="762000">
                <a:tc>
                  <a:txBody>
                    <a:bodyPr/>
                    <a:lstStyle/>
                    <a:p>
                      <a:r>
                        <a:rPr sz="1875" b="1">
                          <a:solidFill>
                            <a:srgbClr val="FFFFFF"/>
                          </a:solidFill>
                          <a:latin typeface="Arial"/>
                          <a:ea typeface="Arial"/>
                          <a:cs typeface="Arial"/>
                        </a:rPr>
                        <a:t>Boundary</a:t>
                      </a:r>
                    </a:p>
                  </a:txBody>
                  <a:tcPr marL="133350" marR="133350" marT="76200" marB="76200" anchor="ctr">
                    <a:solidFill>
                      <a:srgbClr val="17252C"/>
                    </a:solidFill>
                  </a:tcPr>
                </a:tc>
                <a:tc>
                  <a:txBody>
                    <a:bodyPr/>
                    <a:lstStyle/>
                    <a:p>
                      <a:r>
                        <a:rPr sz="1875" b="1">
                          <a:solidFill>
                            <a:srgbClr val="FFFFFF"/>
                          </a:solidFill>
                          <a:latin typeface="Arial"/>
                          <a:ea typeface="Arial"/>
                          <a:cs typeface="Arial"/>
                        </a:rPr>
                        <a:t>Operator injection</a:t>
                      </a:r>
                    </a:p>
                  </a:txBody>
                  <a:tcPr marL="133350" marR="133350" marT="76200" marB="76200" anchor="ctr">
                    <a:solidFill>
                      <a:srgbClr val="17252C"/>
                    </a:solidFill>
                  </a:tcPr>
                </a:tc>
                <a:tc>
                  <a:txBody>
                    <a:bodyPr/>
                    <a:lstStyle/>
                    <a:p>
                      <a:r>
                        <a:rPr sz="1875" b="1">
                          <a:solidFill>
                            <a:srgbClr val="FFFFFF"/>
                          </a:solidFill>
                          <a:latin typeface="Arial"/>
                          <a:ea typeface="Arial"/>
                          <a:cs typeface="Arial"/>
                        </a:rPr>
                        <a:t>JavaScript injection</a:t>
                      </a:r>
                    </a:p>
                  </a:txBody>
                  <a:tcPr marL="133350" marR="133350" marT="76200" marB="76200" anchor="ctr">
                    <a:solidFill>
                      <a:srgbClr val="17252C"/>
                    </a:solidFill>
                  </a:tcPr>
                </a:tc>
              </a:tr>
              <a:tr h="762000">
                <a:tc>
                  <a:txBody>
                    <a:bodyPr/>
                    <a:lstStyle/>
                    <a:p>
                      <a:r>
                        <a:rPr sz="1875">
                          <a:solidFill>
                            <a:srgbClr val="17252C"/>
                          </a:solidFill>
                          <a:latin typeface="Arial"/>
                          <a:ea typeface="Arial"/>
                          <a:cs typeface="Arial"/>
                        </a:rPr>
                        <a:t>Input form</a:t>
                      </a:r>
                    </a:p>
                  </a:txBody>
                  <a:tcPr marL="133350" marR="133350" marT="76200" marB="76200" anchor="ctr">
                    <a:solidFill>
                      <a:srgbClr val="F6F6F2"/>
                    </a:solidFill>
                  </a:tcPr>
                </a:tc>
                <a:tc>
                  <a:txBody>
                    <a:bodyPr/>
                    <a:lstStyle/>
                    <a:p>
                      <a:r>
                        <a:rPr sz="1875">
                          <a:solidFill>
                            <a:srgbClr val="17252C"/>
                          </a:solidFill>
                          <a:latin typeface="Arial"/>
                          <a:ea typeface="Arial"/>
                          <a:cs typeface="Arial"/>
                        </a:rPr>
                        <a:t>Object containing $ne</a:t>
                      </a:r>
                    </a:p>
                  </a:txBody>
                  <a:tcPr marL="133350" marR="133350" marT="76200" marB="76200" anchor="ctr">
                    <a:solidFill>
                      <a:srgbClr val="F6F6F2"/>
                    </a:solidFill>
                  </a:tcPr>
                </a:tc>
                <a:tc>
                  <a:txBody>
                    <a:bodyPr/>
                    <a:lstStyle/>
                    <a:p>
                      <a:r>
                        <a:rPr sz="1875">
                          <a:solidFill>
                            <a:srgbClr val="17252C"/>
                          </a:solidFill>
                          <a:latin typeface="Arial"/>
                          <a:ea typeface="Arial"/>
                          <a:cs typeface="Arial"/>
                        </a:rPr>
                        <a:t>String inserted into JS source</a:t>
                      </a:r>
                    </a:p>
                  </a:txBody>
                  <a:tcPr marL="133350" marR="133350" marT="76200" marB="76200" anchor="ctr">
                    <a:solidFill>
                      <a:srgbClr val="F6F6F2"/>
                    </a:solidFill>
                  </a:tcPr>
                </a:tc>
              </a:tr>
              <a:tr h="762000">
                <a:tc>
                  <a:txBody>
                    <a:bodyPr/>
                    <a:lstStyle/>
                    <a:p>
                      <a:r>
                        <a:rPr sz="1875">
                          <a:solidFill>
                            <a:srgbClr val="17252C"/>
                          </a:solidFill>
                          <a:latin typeface="Arial"/>
                          <a:ea typeface="Arial"/>
                          <a:cs typeface="Arial"/>
                        </a:rPr>
                        <a:t>Interpreter</a:t>
                      </a:r>
                    </a:p>
                  </a:txBody>
                  <a:tcPr marL="133350" marR="133350" marT="76200" marB="76200" anchor="ctr">
                    <a:solidFill>
                      <a:srgbClr val="F6F6F2"/>
                    </a:solidFill>
                  </a:tcPr>
                </a:tc>
                <a:tc>
                  <a:txBody>
                    <a:bodyPr/>
                    <a:lstStyle/>
                    <a:p>
                      <a:r>
                        <a:rPr sz="1875">
                          <a:solidFill>
                            <a:srgbClr val="17252C"/>
                          </a:solidFill>
                          <a:latin typeface="Arial"/>
                          <a:ea typeface="Arial"/>
                          <a:cs typeface="Arial"/>
                        </a:rPr>
                        <a:t>MongoDB query predicate</a:t>
                      </a:r>
                    </a:p>
                  </a:txBody>
                  <a:tcPr marL="133350" marR="133350" marT="76200" marB="76200" anchor="ctr">
                    <a:solidFill>
                      <a:srgbClr val="F6F6F2"/>
                    </a:solidFill>
                  </a:tcPr>
                </a:tc>
                <a:tc>
                  <a:txBody>
                    <a:bodyPr/>
                    <a:lstStyle/>
                    <a:p>
                      <a:r>
                        <a:rPr sz="1875">
                          <a:solidFill>
                            <a:srgbClr val="17252C"/>
                          </a:solidFill>
                          <a:latin typeface="Arial"/>
                          <a:ea typeface="Arial"/>
                          <a:cs typeface="Arial"/>
                        </a:rPr>
                        <a:t>Server-side JavaScript</a:t>
                      </a:r>
                    </a:p>
                  </a:txBody>
                  <a:tcPr marL="133350" marR="133350" marT="76200" marB="76200" anchor="ctr">
                    <a:solidFill>
                      <a:srgbClr val="F6F6F2"/>
                    </a:solidFill>
                  </a:tcPr>
                </a:tc>
              </a:tr>
              <a:tr h="762000">
                <a:tc>
                  <a:txBody>
                    <a:bodyPr/>
                    <a:lstStyle/>
                    <a:p>
                      <a:r>
                        <a:rPr sz="1875">
                          <a:solidFill>
                            <a:srgbClr val="17252C"/>
                          </a:solidFill>
                          <a:latin typeface="Arial"/>
                          <a:ea typeface="Arial"/>
                          <a:cs typeface="Arial"/>
                        </a:rPr>
                        <a:t>Relevant control</a:t>
                      </a:r>
                    </a:p>
                  </a:txBody>
                  <a:tcPr marL="133350" marR="133350" marT="76200" marB="76200" anchor="ctr">
                    <a:solidFill>
                      <a:srgbClr val="F6F6F2"/>
                    </a:solidFill>
                  </a:tcPr>
                </a:tc>
                <a:tc>
                  <a:txBody>
                    <a:bodyPr/>
                    <a:lstStyle/>
                    <a:p>
                      <a:r>
                        <a:rPr sz="1875">
                          <a:solidFill>
                            <a:srgbClr val="17252C"/>
                          </a:solidFill>
                          <a:latin typeface="Arial"/>
                          <a:ea typeface="Arial"/>
                          <a:cs typeface="Arial"/>
                        </a:rPr>
                        <a:t>String-only login contract</a:t>
                      </a:r>
                    </a:p>
                  </a:txBody>
                  <a:tcPr marL="133350" marR="133350" marT="76200" marB="76200" anchor="ctr">
                    <a:solidFill>
                      <a:srgbClr val="F6F6F2"/>
                    </a:solidFill>
                  </a:tcPr>
                </a:tc>
                <a:tc>
                  <a:txBody>
                    <a:bodyPr/>
                    <a:lstStyle/>
                    <a:p>
                      <a:r>
                        <a:rPr sz="1875">
                          <a:solidFill>
                            <a:srgbClr val="17252C"/>
                          </a:solidFill>
                          <a:latin typeface="Arial"/>
                          <a:ea typeface="Arial"/>
                          <a:cs typeface="Arial"/>
                        </a:rPr>
                        <a:t>Avoid building JS source</a:t>
                      </a:r>
                    </a:p>
                    <a:p>
                      <a:r>
                        <a:rPr sz="1875">
                          <a:solidFill>
                            <a:srgbClr val="17252C"/>
                          </a:solidFill>
                          <a:latin typeface="Arial"/>
                          <a:ea typeface="Arial"/>
                          <a:cs typeface="Arial"/>
                        </a:rPr>
                        <a:t>Disable unused scripting</a:t>
                      </a:r>
                    </a:p>
                  </a:txBody>
                  <a:tcPr marL="133350" marR="133350" marT="76200" marB="76200" anchor="ctr">
                    <a:solidFill>
                      <a:srgbClr val="F6F6F2"/>
                    </a:solidFill>
                  </a:tcPr>
                </a:tc>
              </a:tr>
            </a:tbl>
          </a:graphicData>
        </a:graphic>
      </p:graphicFrame>
      <p:sp>
        <p:nvSpPr>
          <p:cNvPr id="5" name="">
            <a:extLst xmlns:a="http://schemas.openxmlformats.org/drawingml/2006/main">
              <a:ext uri="{FF2B5EF4-FFF2-40B4-BE49-F238E27FC236}">
                <a16:creationId xmlns:a16="http://schemas.microsoft.com/office/drawing/2014/main" id="{E9F9B8EA-6A30-4751-8661-93D4E6F01201}"/>
              </a:ext>
            </a:extLst>
          </p:cNvPr>
          <p:cNvSpPr>
            <a:spLocks xmlns:a="http://schemas.openxmlformats.org/drawingml/2006/main" noGrp="1"/>
          </p:cNvSpPr>
          <p:nvPr/>
        </p:nvSpPr>
        <p:spPr>
          <a:xfrm xmlns:a="http://schemas.openxmlformats.org/drawingml/2006/main">
            <a:off x="609600" y="50958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AF3047"/>
                </a:solidFill>
                <a:latin typeface="Arial"/>
                <a:ea typeface="Arial"/>
                <a:cs typeface="Arial"/>
              </a:defRPr>
            </a:defPPr>
          </a:lstStyle>
          <a:p xmlns:a="http://schemas.openxmlformats.org/drawingml/2006/main">
            <a:pPr>
              <a:defRPr sz="2325" b="1">
                <a:solidFill>
                  <a:srgbClr val="AF3047"/>
                </a:solidFill>
                <a:latin typeface="Arial"/>
                <a:ea typeface="Arial"/>
                <a:cs typeface="Arial"/>
              </a:defRPr>
            </a:pPr>
            <a:r>
              <a:rPr sz="2325" b="1">
                <a:solidFill>
                  <a:srgbClr val="AF3047"/>
                </a:solidFill>
                <a:latin typeface="Arial"/>
                <a:ea typeface="Arial"/>
                <a:cs typeface="Arial"/>
              </a:rPr>
              <a:t>A string can still become executable code in another context</a:t>
            </a:r>
          </a:p>
        </p:txBody>
      </p:sp>
      <p:sp>
        <p:nvSpPr>
          <p:cNvPr id="6" name="">
            <a:extLst xmlns:a="http://schemas.openxmlformats.org/drawingml/2006/main">
              <a:ext uri="{FF2B5EF4-FFF2-40B4-BE49-F238E27FC236}">
                <a16:creationId xmlns:a16="http://schemas.microsoft.com/office/drawing/2014/main" id="{04EC6335-20B0-4806-A3A0-4FB88547D70A}"/>
              </a:ext>
            </a:extLst>
          </p:cNvPr>
          <p:cNvSpPr>
            <a:spLocks xmlns:a="http://schemas.openxmlformats.org/drawingml/2006/main" noGrp="1"/>
          </p:cNvSpPr>
          <p:nvPr/>
        </p:nvSpPr>
        <p:spPr>
          <a:xfrm xmlns:a="http://schemas.openxmlformats.org/drawingml/2006/main">
            <a:off x="609600" y="5791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1616A"/>
                </a:solidFill>
                <a:latin typeface="Arial"/>
                <a:ea typeface="Arial"/>
                <a:cs typeface="Arial"/>
              </a:defRPr>
            </a:defPPr>
          </a:lstStyle>
          <a:p xmlns:a="http://schemas.openxmlformats.org/drawingml/2006/main">
            <a:pPr>
              <a:defRPr sz="1800" b="0">
                <a:solidFill>
                  <a:srgbClr val="51616A"/>
                </a:solidFill>
                <a:latin typeface="Arial"/>
                <a:ea typeface="Arial"/>
                <a:cs typeface="Arial"/>
              </a:defRPr>
            </a:pPr>
            <a:r>
              <a:rPr sz="1800" b="0">
                <a:solidFill>
                  <a:srgbClr val="51616A"/>
                </a:solidFill>
                <a:latin typeface="Arial"/>
                <a:ea typeface="Arial"/>
                <a:cs typeface="Arial"/>
              </a:rPr>
              <a:t>Conceptual contrast. Our $where probe checks configuration only.</a:t>
            </a:r>
          </a:p>
        </p:txBody>
      </p:sp>
    </p:spTree>
    <p:extLst>
      <p:ext uri="{BB962C8B-B14F-4D97-AF65-F5344CB8AC3E}">
        <p14:creationId xmlns:p14="http://schemas.microsoft.com/office/powerpoint/2010/main" val="1909563652"/>
      </p:ext>
    </p:extLst>
  </p:cSld>
</p:sld>
</file>

<file path=ppt/slides/slide12.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9BDDE06-4FDF-499E-A226-B716691CCA4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Findings and engineering lessons</a:t>
            </a:r>
          </a:p>
        </p:txBody>
      </p:sp>
      <p:sp>
        <p:nvSpPr>
          <p:cNvPr id="2" name="">
            <a:extLst xmlns:a="http://schemas.openxmlformats.org/drawingml/2006/main">
              <a:ext uri="{FF2B5EF4-FFF2-40B4-BE49-F238E27FC236}">
                <a16:creationId xmlns:a16="http://schemas.microsoft.com/office/drawing/2014/main" id="{9AC8EA69-AD3B-484C-A09B-1AB92CE422BC}"/>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376D599E-BBC3-4D6F-911F-58445A80EB90}"/>
              </a:ext>
            </a:extLst>
          </p:cNvPr>
          <p:cNvSpPr>
            <a:spLocks xmlns:a="http://schemas.openxmlformats.org/drawingml/2006/main" noGrp="1"/>
          </p:cNvSpPr>
          <p:nvPr/>
        </p:nvSpPr>
        <p:spPr>
          <a:xfrm xmlns:a="http://schemas.openxmlformats.org/drawingml/2006/main">
            <a:off x="609600" y="17430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AF3047"/>
                </a:solidFill>
                <a:latin typeface="Arial"/>
                <a:ea typeface="Arial"/>
                <a:cs typeface="Arial"/>
              </a:defRPr>
            </a:defPPr>
          </a:lstStyle>
          <a:p xmlns:a="http://schemas.openxmlformats.org/drawingml/2006/main">
            <a:pPr>
              <a:defRPr sz="2625" b="1">
                <a:solidFill>
                  <a:srgbClr val="AF3047"/>
                </a:solidFill>
                <a:latin typeface="Arial"/>
                <a:ea typeface="Arial"/>
                <a:cs typeface="Arial"/>
              </a:defRPr>
            </a:pPr>
            <a:r>
              <a:rPr sz="2625" b="1">
                <a:solidFill>
                  <a:srgbClr val="AF3047"/>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689984F2-F069-4F3D-8E38-091CF65E83E1}"/>
              </a:ext>
            </a:extLst>
          </p:cNvPr>
          <p:cNvSpPr>
            <a:spLocks xmlns:a="http://schemas.openxmlformats.org/drawingml/2006/main" noGrp="1"/>
          </p:cNvSpPr>
          <p:nvPr/>
        </p:nvSpPr>
        <p:spPr>
          <a:xfrm xmlns:a="http://schemas.openxmlformats.org/drawingml/2006/main">
            <a:off x="1638300" y="1752600"/>
            <a:ext cx="9944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7252C"/>
                </a:solidFill>
                <a:latin typeface="Arial"/>
                <a:ea typeface="Arial"/>
                <a:cs typeface="Arial"/>
              </a:defRPr>
            </a:defPPr>
          </a:lstStyle>
          <a:p xmlns:a="http://schemas.openxmlformats.org/drawingml/2006/main">
            <a:pPr>
              <a:defRPr sz="2550" b="1">
                <a:solidFill>
                  <a:srgbClr val="17252C"/>
                </a:solidFill>
                <a:latin typeface="Arial"/>
                <a:ea typeface="Arial"/>
                <a:cs typeface="Arial"/>
              </a:defRPr>
            </a:pPr>
            <a:r>
              <a:rPr sz="2550" b="1">
                <a:solidFill>
                  <a:srgbClr val="17252C"/>
                </a:solidFill>
                <a:latin typeface="Arial"/>
                <a:ea typeface="Arial"/>
                <a:cs typeface="Arial"/>
              </a:rPr>
              <a:t>Client-owned operators can change credential checks</a:t>
            </a:r>
          </a:p>
        </p:txBody>
      </p:sp>
      <p:sp>
        <p:nvSpPr>
          <p:cNvPr id="5" name="">
            <a:extLst xmlns:a="http://schemas.openxmlformats.org/drawingml/2006/main">
              <a:ext uri="{FF2B5EF4-FFF2-40B4-BE49-F238E27FC236}">
                <a16:creationId xmlns:a16="http://schemas.microsoft.com/office/drawing/2014/main" id="{7C6293B9-D356-49CB-BDD0-410F86D6C194}"/>
              </a:ext>
            </a:extLst>
          </p:cNvPr>
          <p:cNvSpPr>
            <a:spLocks xmlns:a="http://schemas.openxmlformats.org/drawingml/2006/main" noGrp="1"/>
          </p:cNvSpPr>
          <p:nvPr/>
        </p:nvSpPr>
        <p:spPr>
          <a:xfrm xmlns:a="http://schemas.openxmlformats.org/drawingml/2006/main">
            <a:off x="609600" y="31432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087B6D"/>
                </a:solidFill>
                <a:latin typeface="Arial"/>
                <a:ea typeface="Arial"/>
                <a:cs typeface="Arial"/>
              </a:defRPr>
            </a:defPPr>
          </a:lstStyle>
          <a:p xmlns:a="http://schemas.openxmlformats.org/drawingml/2006/main">
            <a:pPr>
              <a:defRPr sz="2625" b="1">
                <a:solidFill>
                  <a:srgbClr val="087B6D"/>
                </a:solidFill>
                <a:latin typeface="Arial"/>
                <a:ea typeface="Arial"/>
                <a:cs typeface="Arial"/>
              </a:defRPr>
            </a:pPr>
            <a:r>
              <a:rPr sz="2625" b="1">
                <a:solidFill>
                  <a:srgbClr val="087B6D"/>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6DB08454-D0E5-4294-9DF4-FDAA0FC16550}"/>
              </a:ext>
            </a:extLst>
          </p:cNvPr>
          <p:cNvSpPr>
            <a:spLocks xmlns:a="http://schemas.openxmlformats.org/drawingml/2006/main" noGrp="1"/>
          </p:cNvSpPr>
          <p:nvPr/>
        </p:nvSpPr>
        <p:spPr>
          <a:xfrm xmlns:a="http://schemas.openxmlformats.org/drawingml/2006/main">
            <a:off x="1638300" y="3152775"/>
            <a:ext cx="9944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7252C"/>
                </a:solidFill>
                <a:latin typeface="Arial"/>
                <a:ea typeface="Arial"/>
                <a:cs typeface="Arial"/>
              </a:defRPr>
            </a:defPPr>
          </a:lstStyle>
          <a:p xmlns:a="http://schemas.openxmlformats.org/drawingml/2006/main">
            <a:pPr>
              <a:defRPr sz="2550" b="1">
                <a:solidFill>
                  <a:srgbClr val="17252C"/>
                </a:solidFill>
                <a:latin typeface="Arial"/>
                <a:ea typeface="Arial"/>
                <a:cs typeface="Arial"/>
              </a:defRPr>
            </a:pPr>
            <a:r>
              <a:rPr sz="2550" b="1">
                <a:solidFill>
                  <a:srgbClr val="17252C"/>
                </a:solidFill>
                <a:latin typeface="Arial"/>
                <a:ea typeface="Arial"/>
                <a:cs typeface="Arial"/>
              </a:rPr>
              <a:t>Validated types stop the tested operator-object bypass</a:t>
            </a:r>
          </a:p>
        </p:txBody>
      </p:sp>
      <p:sp>
        <p:nvSpPr>
          <p:cNvPr id="7" name="">
            <a:extLst xmlns:a="http://schemas.openxmlformats.org/drawingml/2006/main">
              <a:ext uri="{FF2B5EF4-FFF2-40B4-BE49-F238E27FC236}">
                <a16:creationId xmlns:a16="http://schemas.microsoft.com/office/drawing/2014/main" id="{4C4F5FC7-E33C-4E8D-A508-570989538CCC}"/>
              </a:ext>
            </a:extLst>
          </p:cNvPr>
          <p:cNvSpPr>
            <a:spLocks xmlns:a="http://schemas.openxmlformats.org/drawingml/2006/main" noGrp="1"/>
          </p:cNvSpPr>
          <p:nvPr/>
        </p:nvSpPr>
        <p:spPr>
          <a:xfrm xmlns:a="http://schemas.openxmlformats.org/drawingml/2006/main">
            <a:off x="609600" y="45434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275A80"/>
                </a:solidFill>
                <a:latin typeface="Arial"/>
                <a:ea typeface="Arial"/>
                <a:cs typeface="Arial"/>
              </a:defRPr>
            </a:defPPr>
          </a:lstStyle>
          <a:p xmlns:a="http://schemas.openxmlformats.org/drawingml/2006/main">
            <a:pPr>
              <a:defRPr sz="2625" b="1">
                <a:solidFill>
                  <a:srgbClr val="275A80"/>
                </a:solidFill>
                <a:latin typeface="Arial"/>
                <a:ea typeface="Arial"/>
                <a:cs typeface="Arial"/>
              </a:defRPr>
            </a:pPr>
            <a:r>
              <a:rPr sz="2625" b="1">
                <a:solidFill>
                  <a:srgbClr val="275A80"/>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5587B3AD-C78C-4F98-AB9F-CCA3126A9266}"/>
              </a:ext>
            </a:extLst>
          </p:cNvPr>
          <p:cNvSpPr>
            <a:spLocks xmlns:a="http://schemas.openxmlformats.org/drawingml/2006/main" noGrp="1"/>
          </p:cNvSpPr>
          <p:nvPr/>
        </p:nvSpPr>
        <p:spPr>
          <a:xfrm xmlns:a="http://schemas.openxmlformats.org/drawingml/2006/main">
            <a:off x="1638300" y="4552950"/>
            <a:ext cx="9944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17252C"/>
                </a:solidFill>
                <a:latin typeface="Arial"/>
                <a:ea typeface="Arial"/>
                <a:cs typeface="Arial"/>
              </a:defRPr>
            </a:defPPr>
          </a:lstStyle>
          <a:p xmlns:a="http://schemas.openxmlformats.org/drawingml/2006/main">
            <a:pPr>
              <a:defRPr sz="2550" b="1">
                <a:solidFill>
                  <a:srgbClr val="17252C"/>
                </a:solidFill>
                <a:latin typeface="Arial"/>
                <a:ea typeface="Arial"/>
                <a:cs typeface="Arial"/>
              </a:defRPr>
            </a:pPr>
            <a:r>
              <a:rPr sz="2550" b="1">
                <a:solidFill>
                  <a:srgbClr val="17252C"/>
                </a:solidFill>
                <a:latin typeface="Arial"/>
                <a:ea typeface="Arial"/>
                <a:cs typeface="Arial"/>
              </a:rPr>
              <a:t>A fix must preserve legitimate authentication</a:t>
            </a:r>
          </a:p>
        </p:txBody>
      </p:sp>
    </p:spTree>
    <p:extLst>
      <p:ext uri="{BB962C8B-B14F-4D97-AF65-F5344CB8AC3E}">
        <p14:creationId xmlns:p14="http://schemas.microsoft.com/office/powerpoint/2010/main" val="1524583617"/>
      </p:ext>
    </p:extLst>
  </p:cSld>
</p:sld>
</file>

<file path=ppt/slides/slide13.xml><?xml version="1.0" encoding="utf-8"?>
<p:sld xmlns:p="http://schemas.openxmlformats.org/presentationml/2006/main">
  <p:cSld>
    <p:bg>
      <p:bgPr>
        <a:solidFill xmlns:a="http://schemas.openxmlformats.org/drawingml/2006/main">
          <a:srgbClr val="17252C"/>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B45427F-5BFB-4DD6-AFA4-F9AE571FB4F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Flexible filters need enforceable access policies</a:t>
            </a:r>
          </a:p>
        </p:txBody>
      </p:sp>
      <p:sp>
        <p:nvSpPr>
          <p:cNvPr id="2" name="">
            <a:extLst xmlns:a="http://schemas.openxmlformats.org/drawingml/2006/main">
              <a:ext uri="{FF2B5EF4-FFF2-40B4-BE49-F238E27FC236}">
                <a16:creationId xmlns:a16="http://schemas.microsoft.com/office/drawing/2014/main" id="{520508FF-C69F-4CAA-8D96-88C4DEBD7F62}"/>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C2CCD0"/>
                </a:solidFill>
                <a:latin typeface="Arial"/>
                <a:ea typeface="Arial"/>
                <a:cs typeface="Arial"/>
              </a:defRPr>
            </a:defPPr>
          </a:lstStyle>
          <a:p xmlns:a="http://schemas.openxmlformats.org/drawingml/2006/main">
            <a:pPr>
              <a:defRPr sz="1425" b="0">
                <a:solidFill>
                  <a:srgbClr val="C2CCD0"/>
                </a:solidFill>
                <a:latin typeface="Arial"/>
                <a:ea typeface="Arial"/>
                <a:cs typeface="Arial"/>
              </a:defRPr>
            </a:pPr>
            <a:r>
              <a:rPr sz="1425" b="0">
                <a:solidFill>
                  <a:srgbClr val="C2CCD0"/>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6B35679C-AD82-46CB-8061-AE6074F5E8FE}"/>
              </a:ext>
            </a:extLst>
          </p:cNvPr>
          <p:cNvSpPr>
            <a:spLocks xmlns:a="http://schemas.openxmlformats.org/drawingml/2006/main" noGrp="1"/>
          </p:cNvSpPr>
          <p:nvPr/>
        </p:nvSpPr>
        <p:spPr>
          <a:xfrm xmlns:a="http://schemas.openxmlformats.org/drawingml/2006/main">
            <a:off x="609600" y="1838325"/>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How can useful client-selected filters</a:t>
            </a:r>
          </a:p>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preserve tenant and ownership restrictions?</a:t>
            </a:r>
          </a:p>
        </p:txBody>
      </p:sp>
      <p:sp>
        <p:nvSpPr>
          <p:cNvPr id="4" name="">
            <a:extLst xmlns:a="http://schemas.openxmlformats.org/drawingml/2006/main">
              <a:ext uri="{FF2B5EF4-FFF2-40B4-BE49-F238E27FC236}">
                <a16:creationId xmlns:a16="http://schemas.microsoft.com/office/drawing/2014/main" id="{2677D4E6-472C-4B99-9799-E7EF7E36E9E8}"/>
              </a:ext>
            </a:extLst>
          </p:cNvPr>
          <p:cNvSpPr>
            <a:spLocks xmlns:a="http://schemas.openxmlformats.org/drawingml/2006/main" noGrp="1"/>
          </p:cNvSpPr>
          <p:nvPr/>
        </p:nvSpPr>
        <p:spPr>
          <a:xfrm xmlns:a="http://schemas.openxmlformats.org/drawingml/2006/main">
            <a:off x="609600" y="3829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C2CCD0"/>
                </a:solidFill>
                <a:latin typeface="Arial"/>
                <a:ea typeface="Arial"/>
                <a:cs typeface="Arial"/>
              </a:defRPr>
            </a:defPPr>
          </a:lstStyle>
          <a:p xmlns:a="http://schemas.openxmlformats.org/drawingml/2006/main">
            <a:pPr>
              <a:defRPr sz="2175" b="0">
                <a:solidFill>
                  <a:srgbClr val="C2CCD0"/>
                </a:solidFill>
                <a:latin typeface="Arial"/>
                <a:ea typeface="Arial"/>
                <a:cs typeface="Arial"/>
              </a:defRPr>
            </a:pPr>
            <a:r>
              <a:rPr sz="2175" b="0">
                <a:solidFill>
                  <a:srgbClr val="C2CCD0"/>
                </a:solidFill>
                <a:latin typeface="Arial"/>
                <a:ea typeface="Arial"/>
                <a:cs typeface="Arial"/>
              </a:rPr>
              <a:t>Scope: one local stack, synthetic records, 15 request cases</a:t>
            </a:r>
          </a:p>
        </p:txBody>
      </p:sp>
      <p:sp>
        <p:nvSpPr>
          <p:cNvPr id="5" name="">
            <a:extLst xmlns:a="http://schemas.openxmlformats.org/drawingml/2006/main">
              <a:ext uri="{FF2B5EF4-FFF2-40B4-BE49-F238E27FC236}">
                <a16:creationId xmlns:a16="http://schemas.microsoft.com/office/drawing/2014/main" id="{4C51B55D-1C44-4F46-B12D-1FBD03CA72D4}"/>
              </a:ext>
            </a:extLst>
          </p:cNvPr>
          <p:cNvSpPr>
            <a:spLocks xmlns:a="http://schemas.openxmlformats.org/drawingml/2006/main" noGrp="1"/>
          </p:cNvSpPr>
          <p:nvPr/>
        </p:nvSpPr>
        <p:spPr>
          <a:xfrm xmlns:a="http://schemas.openxmlformats.org/drawingml/2006/main">
            <a:off x="609600" y="5010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FFFFF"/>
                </a:solidFill>
                <a:latin typeface="Arial"/>
                <a:ea typeface="Arial"/>
                <a:cs typeface="Arial"/>
              </a:defRPr>
            </a:defPPr>
          </a:lstStyle>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Application-owned query structure protects the intended security decision</a:t>
            </a:r>
          </a:p>
        </p:txBody>
      </p:sp>
    </p:spTree>
    <p:extLst>
      <p:ext uri="{BB962C8B-B14F-4D97-AF65-F5344CB8AC3E}">
        <p14:creationId xmlns:p14="http://schemas.microsoft.com/office/powerpoint/2010/main" val="102996826"/>
      </p:ext>
    </p:extLst>
  </p:cSld>
</p:sld>
</file>

<file path=ppt/slides/slide14.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87E78235-60D0-4024-BE6C-BD0EC906762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exact environment</a:t>
            </a:r>
          </a:p>
        </p:txBody>
      </p:sp>
      <p:sp>
        <p:nvSpPr>
          <p:cNvPr id="2" name="">
            <a:extLst xmlns:a="http://schemas.openxmlformats.org/drawingml/2006/main">
              <a:ext uri="{FF2B5EF4-FFF2-40B4-BE49-F238E27FC236}">
                <a16:creationId xmlns:a16="http://schemas.microsoft.com/office/drawing/2014/main" id="{11BAB03D-411B-4D5A-95B9-56431802B45A}"/>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1ABFD3C3-D1FB-491D-AB11-3FF94489C1F1}"/>
              </a:ext>
            </a:extLst>
          </p:cNvPr>
          <p:cNvGraphicFramePr/>
          <p:nvPr/>
        </p:nvGraphicFramePr>
        <p:xfrm>
          <a:off xmlns:a="http://schemas.openxmlformats.org/drawingml/2006/main" x="609600" y="1571625"/>
          <a:ext xmlns:a="http://schemas.openxmlformats.org/drawingml/2006/main" cx="10972800" cy="4095750"/>
        </p:xfrm>
        <a:graphic xmlns:a="http://schemas.openxmlformats.org/drawingml/2006/main">
          <a:graphicData uri="http://schemas.openxmlformats.org/drawingml/2006/table">
            <a:tbl>
              <a:tblPr/>
              <a:tblGrid>
                <a:gridCol w="4572000"/>
                <a:gridCol w="6400800"/>
              </a:tblGrid>
              <a:tr h="585107">
                <a:tc>
                  <a:txBody>
                    <a:bodyPr/>
                    <a:lstStyle/>
                    <a:p>
                      <a:r>
                        <a:rPr sz="1875" b="1">
                          <a:solidFill>
                            <a:srgbClr val="FFFFFF"/>
                          </a:solidFill>
                          <a:latin typeface="Arial"/>
                          <a:ea typeface="Arial"/>
                          <a:cs typeface="Arial"/>
                        </a:rPr>
                        <a:t>Component</a:t>
                      </a:r>
                    </a:p>
                  </a:txBody>
                  <a:tcPr marL="133350" marR="133350" marT="76200" marB="76200" anchor="ctr">
                    <a:solidFill>
                      <a:srgbClr val="17252C"/>
                    </a:solidFill>
                  </a:tcPr>
                </a:tc>
                <a:tc>
                  <a:txBody>
                    <a:bodyPr/>
                    <a:lstStyle/>
                    <a:p>
                      <a:r>
                        <a:rPr sz="1875" b="1">
                          <a:solidFill>
                            <a:srgbClr val="FFFFFF"/>
                          </a:solidFill>
                          <a:latin typeface="Arial"/>
                          <a:ea typeface="Arial"/>
                          <a:cs typeface="Arial"/>
                        </a:rPr>
                        <a:t>Recorded value</a:t>
                      </a:r>
                    </a:p>
                  </a:txBody>
                  <a:tcPr marL="133350" marR="133350" marT="76200" marB="76200" anchor="ctr">
                    <a:solidFill>
                      <a:srgbClr val="17252C"/>
                    </a:solidFill>
                  </a:tcPr>
                </a:tc>
              </a:tr>
              <a:tr h="585107">
                <a:tc>
                  <a:txBody>
                    <a:bodyPr/>
                    <a:lstStyle/>
                    <a:p>
                      <a:r>
                        <a:rPr sz="1875">
                          <a:solidFill>
                            <a:srgbClr val="17252C"/>
                          </a:solidFill>
                          <a:latin typeface="Arial"/>
                          <a:ea typeface="Arial"/>
                          <a:cs typeface="Arial"/>
                        </a:rPr>
                        <a:t>MongoDB server</a:t>
                      </a:r>
                    </a:p>
                  </a:txBody>
                  <a:tcPr marL="133350" marR="133350" marT="76200" marB="76200" anchor="ctr">
                    <a:solidFill>
                      <a:srgbClr val="F6F6F2"/>
                    </a:solidFill>
                  </a:tcPr>
                </a:tc>
                <a:tc>
                  <a:txBody>
                    <a:bodyPr/>
                    <a:lstStyle/>
                    <a:p>
                      <a:r>
                        <a:rPr sz="1875">
                          <a:solidFill>
                            <a:srgbClr val="17252C"/>
                          </a:solidFill>
                          <a:latin typeface="Arial"/>
                          <a:ea typeface="Arial"/>
                          <a:cs typeface="Arial"/>
                        </a:rPr>
                        <a:t>7.0.0</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Node.js</a:t>
                      </a:r>
                    </a:p>
                  </a:txBody>
                  <a:tcPr marL="133350" marR="133350" marT="76200" marB="76200" anchor="ctr">
                    <a:solidFill>
                      <a:srgbClr val="F6F6F2"/>
                    </a:solidFill>
                  </a:tcPr>
                </a:tc>
                <a:tc>
                  <a:txBody>
                    <a:bodyPr/>
                    <a:lstStyle/>
                    <a:p>
                      <a:r>
                        <a:rPr sz="1875">
                          <a:solidFill>
                            <a:srgbClr val="17252C"/>
                          </a:solidFill>
                          <a:latin typeface="Arial"/>
                          <a:ea typeface="Arial"/>
                          <a:cs typeface="Arial"/>
                        </a:rPr>
                        <a:t>v23.6.1</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Express / MongoDB driver</a:t>
                      </a:r>
                    </a:p>
                  </a:txBody>
                  <a:tcPr marL="133350" marR="133350" marT="76200" marB="76200" anchor="ctr">
                    <a:solidFill>
                      <a:srgbClr val="F6F6F2"/>
                    </a:solidFill>
                  </a:tcPr>
                </a:tc>
                <a:tc>
                  <a:txBody>
                    <a:bodyPr/>
                    <a:lstStyle/>
                    <a:p>
                      <a:r>
                        <a:rPr sz="1875">
                          <a:solidFill>
                            <a:srgbClr val="17252C"/>
                          </a:solidFill>
                          <a:latin typeface="Arial"/>
                          <a:ea typeface="Arial"/>
                          <a:cs typeface="Arial"/>
                        </a:rPr>
                        <a:t>5.1.0 / 6.20.0</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Transport and parser</a:t>
                      </a:r>
                    </a:p>
                  </a:txBody>
                  <a:tcPr marL="133350" marR="133350" marT="76200" marB="76200" anchor="ctr">
                    <a:solidFill>
                      <a:srgbClr val="F6F6F2"/>
                    </a:solidFill>
                  </a:tcPr>
                </a:tc>
                <a:tc>
                  <a:txBody>
                    <a:bodyPr/>
                    <a:lstStyle/>
                    <a:p>
                      <a:r>
                        <a:rPr sz="1875">
                          <a:solidFill>
                            <a:srgbClr val="17252C"/>
                          </a:solidFill>
                          <a:latin typeface="Arial"/>
                          <a:ea typeface="Arial"/>
                          <a:cs typeface="Arial"/>
                        </a:rPr>
                        <a:t>Local HTTP / application/json / express.json</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Hash-only account store</a:t>
                      </a:r>
                    </a:p>
                  </a:txBody>
                  <a:tcPr marL="133350" marR="133350" marT="76200" marB="76200" anchor="ctr">
                    <a:solidFill>
                      <a:srgbClr val="F6F6F2"/>
                    </a:solidFill>
                  </a:tcPr>
                </a:tc>
                <a:tc>
                  <a:txBody>
                    <a:bodyPr/>
                    <a:lstStyle/>
                    <a:p>
                      <a:r>
                        <a:rPr sz="1875">
                          <a:solidFill>
                            <a:srgbClr val="17252C"/>
                          </a:solidFill>
                          <a:latin typeface="Arial"/>
                          <a:ea typeface="Arial"/>
                          <a:cs typeface="Arial"/>
                        </a:rPr>
                        <a:t>scrypt N=131072, r=8, p=1</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Evidence coverage</a:t>
                      </a:r>
                    </a:p>
                  </a:txBody>
                  <a:tcPr marL="133350" marR="133350" marT="76200" marB="76200" anchor="ctr">
                    <a:solidFill>
                      <a:srgbClr val="F6F6F2"/>
                    </a:solidFill>
                  </a:tcPr>
                </a:tc>
                <a:tc>
                  <a:txBody>
                    <a:bodyPr/>
                    <a:lstStyle/>
                    <a:p>
                      <a:r>
                        <a:rPr sz="1875">
                          <a:solidFill>
                            <a:srgbClr val="17252C"/>
                          </a:solidFill>
                          <a:latin typeface="Arial"/>
                          <a:ea typeface="Arial"/>
                          <a:cs typeface="Arial"/>
                        </a:rPr>
                        <a:t>15 cases / 5 configurations / 2 runs</a:t>
                      </a:r>
                    </a:p>
                  </a:txBody>
                  <a:tcPr marL="133350" marR="133350" marT="76200" marB="76200" anchor="ctr">
                    <a:solidFill>
                      <a:srgbClr val="F6F6F2"/>
                    </a:solidFill>
                  </a:tcPr>
                </a:tc>
              </a:tr>
            </a:tbl>
          </a:graphicData>
        </a:graphic>
      </p:graphicFrame>
    </p:spTree>
    <p:extLst>
      <p:ext uri="{BB962C8B-B14F-4D97-AF65-F5344CB8AC3E}">
        <p14:creationId xmlns:p14="http://schemas.microsoft.com/office/powerpoint/2010/main" val="2056724043"/>
      </p:ext>
    </p:extLst>
  </p:cSld>
</p:sld>
</file>

<file path=ppt/slides/slide15.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F5EA58B3-41EB-4FAA-BA57-58FBB4DC888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query mechanism and session decision</a:t>
            </a:r>
          </a:p>
        </p:txBody>
      </p:sp>
      <p:sp>
        <p:nvSpPr>
          <p:cNvPr id="2" name="">
            <a:extLst xmlns:a="http://schemas.openxmlformats.org/drawingml/2006/main">
              <a:ext uri="{FF2B5EF4-FFF2-40B4-BE49-F238E27FC236}">
                <a16:creationId xmlns:a16="http://schemas.microsoft.com/office/drawing/2014/main" id="{36A8C706-9A0D-445C-B0D4-3E9D34635810}"/>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82D39988-708B-43F8-8A5B-EC18E5463FAE}"/>
              </a:ext>
            </a:extLst>
          </p:cNvPr>
          <p:cNvSpPr>
            <a:spLocks xmlns:a="http://schemas.openxmlformats.org/drawingml/2006/main" noGrp="1"/>
          </p:cNvSpPr>
          <p:nvPr/>
        </p:nvSpPr>
        <p:spPr>
          <a:xfrm xmlns:a="http://schemas.openxmlformats.org/drawingml/2006/main">
            <a:off x="609600" y="1809750"/>
            <a:ext cx="109728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7252C"/>
                </a:solidFill>
                <a:latin typeface="Courier New"/>
                <a:ea typeface="Courier New"/>
                <a:cs typeface="Courier New"/>
              </a:defRPr>
            </a:defPPr>
          </a:lstStyle>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const filter = {</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username: req.body.username,</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password: req.body.password</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const account = await users.findOne(filter);</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const authenticated = Boolean(account);</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if (authenticated) createSession(account);</a:t>
            </a:r>
          </a:p>
        </p:txBody>
      </p:sp>
      <p:sp>
        <p:nvSpPr>
          <p:cNvPr id="4" name="">
            <a:extLst xmlns:a="http://schemas.openxmlformats.org/drawingml/2006/main">
              <a:ext uri="{FF2B5EF4-FFF2-40B4-BE49-F238E27FC236}">
                <a16:creationId xmlns:a16="http://schemas.microsoft.com/office/drawing/2014/main" id="{19847663-EEC0-456E-9960-C51C8D6E81E5}"/>
              </a:ext>
            </a:extLst>
          </p:cNvPr>
          <p:cNvSpPr>
            <a:spLocks xmlns:a="http://schemas.openxmlformats.org/drawingml/2006/main" noGrp="1"/>
          </p:cNvSpPr>
          <p:nvPr/>
        </p:nvSpPr>
        <p:spPr>
          <a:xfrm xmlns:a="http://schemas.openxmlformats.org/drawingml/2006/main">
            <a:off x="609600" y="5534025"/>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AF3047"/>
                </a:solidFill>
                <a:latin typeface="Arial"/>
                <a:ea typeface="Arial"/>
                <a:cs typeface="Arial"/>
              </a:defRPr>
            </a:defPPr>
          </a:lstStyle>
          <a:p xmlns:a="http://schemas.openxmlformats.org/drawingml/2006/main">
            <a:pPr>
              <a:defRPr sz="1875" b="1">
                <a:solidFill>
                  <a:srgbClr val="AF3047"/>
                </a:solidFill>
                <a:latin typeface="Arial"/>
                <a:ea typeface="Arial"/>
                <a:cs typeface="Arial"/>
              </a:defRPr>
            </a:pPr>
            <a:r>
              <a:rPr sz="1875" b="1">
                <a:solidFill>
                  <a:srgbClr val="AF3047"/>
                </a:solidFill>
                <a:latin typeface="Arial"/>
                <a:ea typeface="Arial"/>
                <a:cs typeface="Arial"/>
              </a:rPr>
              <a:t>Deliberately vulnerable excerpt. Synthetic plaintext account collection.</a:t>
            </a:r>
          </a:p>
        </p:txBody>
      </p:sp>
    </p:spTree>
    <p:extLst>
      <p:ext uri="{BB962C8B-B14F-4D97-AF65-F5344CB8AC3E}">
        <p14:creationId xmlns:p14="http://schemas.microsoft.com/office/powerpoint/2010/main" val="740608160"/>
      </p:ext>
    </p:extLst>
  </p:cSld>
</p:sld>
</file>

<file path=ppt/slides/slide16.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D67072DF-FA4B-44B4-A51F-986D29BBCB4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hardened credential path</a:t>
            </a:r>
          </a:p>
        </p:txBody>
      </p:sp>
      <p:sp>
        <p:nvSpPr>
          <p:cNvPr id="2" name="">
            <a:extLst xmlns:a="http://schemas.openxmlformats.org/drawingml/2006/main">
              <a:ext uri="{FF2B5EF4-FFF2-40B4-BE49-F238E27FC236}">
                <a16:creationId xmlns:a16="http://schemas.microsoft.com/office/drawing/2014/main" id="{3C95C82D-FB14-43B0-BE45-72D850845D4B}"/>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4AAFF04F-8F82-4346-A732-601A444BFA5A}"/>
              </a:ext>
            </a:extLst>
          </p:cNvPr>
          <p:cNvSpPr>
            <a:spLocks xmlns:a="http://schemas.openxmlformats.org/drawingml/2006/main" noGrp="1"/>
          </p:cNvSpPr>
          <p:nvPr/>
        </p:nvSpPr>
        <p:spPr>
          <a:xfrm xmlns:a="http://schemas.openxmlformats.org/drawingml/2006/main">
            <a:off x="609600" y="1666875"/>
            <a:ext cx="109728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252C"/>
                </a:solidFill>
                <a:latin typeface="Courier New"/>
                <a:ea typeface="Courier New"/>
                <a:cs typeface="Courier New"/>
              </a:defRPr>
            </a:defPPr>
          </a:lstStyle>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if (!validContract(req.body)) return reject(400);</a:t>
            </a:r>
          </a:p>
          <a:p xmlns:a="http://schemas.openxmlformats.org/drawingml/2006/main">
            <a:r>
              <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const account = await accounts_hashed.findOne({</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  username: req.body.username</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a:t>
            </a:r>
          </a:p>
          <a:p xmlns:a="http://schemas.openxmlformats.org/drawingml/2006/main">
            <a:r>
              <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const ok = await verifyPassword(</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  req.body.password, account?.passwordHash ?? dummyHash</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if (account &amp;&amp; ok) createSession(account);</a:t>
            </a:r>
          </a:p>
        </p:txBody>
      </p:sp>
      <p:sp>
        <p:nvSpPr>
          <p:cNvPr id="4" name="">
            <a:extLst xmlns:a="http://schemas.openxmlformats.org/drawingml/2006/main">
              <a:ext uri="{FF2B5EF4-FFF2-40B4-BE49-F238E27FC236}">
                <a16:creationId xmlns:a16="http://schemas.microsoft.com/office/drawing/2014/main" id="{79BADB23-77F1-49E3-88CC-A98F6BA3DD3E}"/>
              </a:ext>
            </a:extLst>
          </p:cNvPr>
          <p:cNvSpPr>
            <a:spLocks xmlns:a="http://schemas.openxmlformats.org/drawingml/2006/main" noGrp="1"/>
          </p:cNvSpPr>
          <p:nvPr/>
        </p:nvSpPr>
        <p:spPr>
          <a:xfrm xmlns:a="http://schemas.openxmlformats.org/drawingml/2006/main">
            <a:off x="609600" y="57626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87B6D"/>
                </a:solidFill>
                <a:latin typeface="Arial"/>
                <a:ea typeface="Arial"/>
                <a:cs typeface="Arial"/>
              </a:defRPr>
            </a:defPPr>
          </a:lstStyle>
          <a:p xmlns:a="http://schemas.openxmlformats.org/drawingml/2006/main">
            <a:pPr>
              <a:defRPr sz="1800" b="1">
                <a:solidFill>
                  <a:srgbClr val="087B6D"/>
                </a:solidFill>
                <a:latin typeface="Arial"/>
                <a:ea typeface="Arial"/>
                <a:cs typeface="Arial"/>
              </a:defRPr>
            </a:pPr>
            <a:r>
              <a:rPr sz="1800" b="1">
                <a:solidFill>
                  <a:srgbClr val="087B6D"/>
                </a:solidFill>
                <a:latin typeface="Arial"/>
                <a:ea typeface="Arial"/>
                <a:cs typeface="Arial"/>
              </a:rPr>
              <a:t>Separate hash-only records. No plaintext password in accounts_hashed.</a:t>
            </a:r>
          </a:p>
        </p:txBody>
      </p:sp>
    </p:spTree>
    <p:extLst>
      <p:ext uri="{BB962C8B-B14F-4D97-AF65-F5344CB8AC3E}">
        <p14:creationId xmlns:p14="http://schemas.microsoft.com/office/powerpoint/2010/main" val="1150472167"/>
      </p:ext>
    </p:extLst>
  </p:cSld>
</p:sld>
</file>

<file path=ppt/slides/slide17.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66331F7F-B18D-4E3C-B1EC-AF9B58F3D27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case results C01-C08</a:t>
            </a:r>
          </a:p>
        </p:txBody>
      </p:sp>
      <p:sp>
        <p:nvSpPr>
          <p:cNvPr id="2" name="">
            <a:extLst xmlns:a="http://schemas.openxmlformats.org/drawingml/2006/main">
              <a:ext uri="{FF2B5EF4-FFF2-40B4-BE49-F238E27FC236}">
                <a16:creationId xmlns:a16="http://schemas.microsoft.com/office/drawing/2014/main" id="{3658DBF5-41F1-4C98-AD72-0ED1925878AC}"/>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17</a:t>
            </a:r>
          </a:p>
        </p:txBody>
      </p:sp>
      <p:graphicFrame>
        <p:nvGraphicFramePr>
          <p:cNvPr id="3" name="">
            <a:extLst xmlns:a="http://schemas.openxmlformats.org/drawingml/2006/main">
              <a:ext uri="{FF2B5EF4-FFF2-40B4-BE49-F238E27FC236}">
                <a16:creationId xmlns:a16="http://schemas.microsoft.com/office/drawing/2014/main" id="{4D497F59-C966-452A-BB4B-2FBB3C12CA20}"/>
              </a:ext>
            </a:extLst>
          </p:cNvPr>
          <p:cNvGraphicFramePr/>
          <p:nvPr/>
        </p:nvGraphicFramePr>
        <p:xfrm>
          <a:off xmlns:a="http://schemas.openxmlformats.org/drawingml/2006/main" x="609600" y="1571625"/>
          <a:ext xmlns:a="http://schemas.openxmlformats.org/drawingml/2006/main" cx="10972800" cy="4238625"/>
        </p:xfrm>
        <a:graphic xmlns:a="http://schemas.openxmlformats.org/drawingml/2006/main">
          <a:graphicData uri="http://schemas.openxmlformats.org/drawingml/2006/table">
            <a:tbl>
              <a:tblPr/>
              <a:tblGrid>
                <a:gridCol w="1047750"/>
                <a:gridCol w="5429250"/>
                <a:gridCol w="1762125"/>
                <a:gridCol w="2733675"/>
              </a:tblGrid>
              <a:tr h="470958">
                <a:tc>
                  <a:txBody>
                    <a:bodyPr/>
                    <a:lstStyle/>
                    <a:p>
                      <a:r>
                        <a:rPr sz="1725" b="1">
                          <a:solidFill>
                            <a:srgbClr val="FFFFFF"/>
                          </a:solidFill>
                          <a:latin typeface="Arial"/>
                          <a:ea typeface="Arial"/>
                          <a:cs typeface="Arial"/>
                        </a:rPr>
                        <a:t>Case</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Request shape</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Toy modes</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Validated / hardened</a:t>
                      </a:r>
                    </a:p>
                  </a:txBody>
                  <a:tcPr marL="133350" marR="133350" marT="76200" marB="76200" anchor="ctr">
                    <a:solidFill>
                      <a:srgbClr val="17252C"/>
                    </a:solidFill>
                  </a:tcPr>
                </a:tc>
              </a:tr>
              <a:tr h="470958">
                <a:tc>
                  <a:txBody>
                    <a:bodyPr/>
                    <a:lstStyle/>
                    <a:p>
                      <a:r>
                        <a:rPr sz="1725">
                          <a:solidFill>
                            <a:srgbClr val="17252C"/>
                          </a:solidFill>
                          <a:latin typeface="Arial"/>
                          <a:ea typeface="Arial"/>
                          <a:cs typeface="Arial"/>
                        </a:rPr>
                        <a:t>C01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Valid credentials</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C02</a:t>
                      </a:r>
                    </a:p>
                  </a:txBody>
                  <a:tcPr marL="133350" marR="133350" marT="76200" marB="76200" anchor="ctr">
                    <a:solidFill>
                      <a:srgbClr val="F6F6F2"/>
                    </a:solidFill>
                  </a:tcPr>
                </a:tc>
                <a:tc>
                  <a:txBody>
                    <a:bodyPr/>
                    <a:lstStyle/>
                    <a:p>
                      <a:r>
                        <a:rPr sz="1725">
                          <a:solidFill>
                            <a:srgbClr val="17252C"/>
                          </a:solidFill>
                          <a:latin typeface="Arial"/>
                          <a:ea typeface="Arial"/>
                          <a:cs typeface="Arial"/>
                        </a:rPr>
                        <a:t>Wrong string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C03</a:t>
                      </a:r>
                    </a:p>
                  </a:txBody>
                  <a:tcPr marL="133350" marR="133350" marT="76200" marB="76200" anchor="ctr">
                    <a:solidFill>
                      <a:srgbClr val="F6F6F2"/>
                    </a:solidFill>
                  </a:tcPr>
                </a:tc>
                <a:tc>
                  <a:txBody>
                    <a:bodyPr/>
                    <a:lstStyle/>
                    <a:p>
                      <a:r>
                        <a:rPr sz="1725">
                          <a:solidFill>
                            <a:srgbClr val="17252C"/>
                          </a:solidFill>
                          <a:latin typeface="Arial"/>
                          <a:ea typeface="Arial"/>
                          <a:cs typeface="Arial"/>
                        </a:rPr>
                        <a:t>Unknown username</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C04</a:t>
                      </a:r>
                    </a:p>
                  </a:txBody>
                  <a:tcPr marL="133350" marR="133350" marT="76200" marB="76200" anchor="ctr">
                    <a:solidFill>
                      <a:srgbClr val="F6F6F2"/>
                    </a:solidFill>
                  </a:tcPr>
                </a:tc>
                <a:tc>
                  <a:txBody>
                    <a:bodyPr/>
                    <a:lstStyle/>
                    <a:p>
                      <a:r>
                        <a:rPr sz="1725">
                          <a:solidFill>
                            <a:srgbClr val="17252C"/>
                          </a:solidFill>
                          <a:latin typeface="Arial"/>
                          <a:ea typeface="Arial"/>
                          <a:cs typeface="Arial"/>
                        </a:rPr>
                        <a:t>Password operator object</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C05</a:t>
                      </a:r>
                    </a:p>
                  </a:txBody>
                  <a:tcPr marL="133350" marR="133350" marT="76200" marB="76200" anchor="ctr">
                    <a:solidFill>
                      <a:srgbClr val="F6F6F2"/>
                    </a:solidFill>
                  </a:tcPr>
                </a:tc>
                <a:tc>
                  <a:txBody>
                    <a:bodyPr/>
                    <a:lstStyle/>
                    <a:p>
                      <a:r>
                        <a:rPr sz="1725">
                          <a:solidFill>
                            <a:srgbClr val="17252C"/>
                          </a:solidFill>
                          <a:latin typeface="Arial"/>
                          <a:ea typeface="Arial"/>
                          <a:cs typeface="Arial"/>
                        </a:rPr>
                        <a:t>Username operator with wrong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C06</a:t>
                      </a:r>
                    </a:p>
                  </a:txBody>
                  <a:tcPr marL="133350" marR="133350" marT="76200" marB="76200" anchor="ctr">
                    <a:solidFill>
                      <a:srgbClr val="F6F6F2"/>
                    </a:solidFill>
                  </a:tcPr>
                </a:tc>
                <a:tc>
                  <a:txBody>
                    <a:bodyPr/>
                    <a:lstStyle/>
                    <a:p>
                      <a:r>
                        <a:rPr sz="1725">
                          <a:solidFill>
                            <a:srgbClr val="17252C"/>
                          </a:solidFill>
                          <a:latin typeface="Arial"/>
                          <a:ea typeface="Arial"/>
                          <a:cs typeface="Arial"/>
                        </a:rPr>
                        <a:t>Operator-looking literal string</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C07</a:t>
                      </a:r>
                    </a:p>
                  </a:txBody>
                  <a:tcPr marL="133350" marR="133350" marT="76200" marB="76200" anchor="ctr">
                    <a:solidFill>
                      <a:srgbClr val="F6F6F2"/>
                    </a:solidFill>
                  </a:tcPr>
                </a:tc>
                <a:tc>
                  <a:txBody>
                    <a:bodyPr/>
                    <a:lstStyle/>
                    <a:p>
                      <a:r>
                        <a:rPr sz="1725">
                          <a:solidFill>
                            <a:srgbClr val="17252C"/>
                          </a:solidFill>
                          <a:latin typeface="Arial"/>
                          <a:ea typeface="Arial"/>
                          <a:cs typeface="Arial"/>
                        </a:rPr>
                        <a:t>Null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C08</a:t>
                      </a:r>
                    </a:p>
                  </a:txBody>
                  <a:tcPr marL="133350" marR="133350" marT="76200" marB="76200" anchor="ctr">
                    <a:solidFill>
                      <a:srgbClr val="F6F6F2"/>
                    </a:solidFill>
                  </a:tcPr>
                </a:tc>
                <a:tc>
                  <a:txBody>
                    <a:bodyPr/>
                    <a:lstStyle/>
                    <a:p>
                      <a:r>
                        <a:rPr sz="1725">
                          <a:solidFill>
                            <a:srgbClr val="17252C"/>
                          </a:solidFill>
                          <a:latin typeface="Arial"/>
                          <a:ea typeface="Arial"/>
                          <a:cs typeface="Arial"/>
                        </a:rPr>
                        <a:t>Array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bl>
          </a:graphicData>
        </a:graphic>
      </p:graphicFrame>
    </p:spTree>
    <p:extLst>
      <p:ext uri="{BB962C8B-B14F-4D97-AF65-F5344CB8AC3E}">
        <p14:creationId xmlns:p14="http://schemas.microsoft.com/office/powerpoint/2010/main" val="926009030"/>
      </p:ext>
    </p:extLst>
  </p:cSld>
</p:sld>
</file>

<file path=ppt/slides/slide18.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149F33EC-E475-4F27-9E20-C66834DFCDA0}"/>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case results C09-C15</a:t>
            </a:r>
          </a:p>
        </p:txBody>
      </p:sp>
      <p:sp>
        <p:nvSpPr>
          <p:cNvPr id="2" name="">
            <a:extLst xmlns:a="http://schemas.openxmlformats.org/drawingml/2006/main">
              <a:ext uri="{FF2B5EF4-FFF2-40B4-BE49-F238E27FC236}">
                <a16:creationId xmlns:a16="http://schemas.microsoft.com/office/drawing/2014/main" id="{F5373B88-134A-4E58-9A21-0B71E9213D62}"/>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18</a:t>
            </a:r>
          </a:p>
        </p:txBody>
      </p:sp>
      <p:graphicFrame>
        <p:nvGraphicFramePr>
          <p:cNvPr id="3" name="">
            <a:extLst xmlns:a="http://schemas.openxmlformats.org/drawingml/2006/main">
              <a:ext uri="{FF2B5EF4-FFF2-40B4-BE49-F238E27FC236}">
                <a16:creationId xmlns:a16="http://schemas.microsoft.com/office/drawing/2014/main" id="{100232CC-A61A-4E2A-8D74-97B223909075}"/>
              </a:ext>
            </a:extLst>
          </p:cNvPr>
          <p:cNvGraphicFramePr/>
          <p:nvPr/>
        </p:nvGraphicFramePr>
        <p:xfrm>
          <a:off xmlns:a="http://schemas.openxmlformats.org/drawingml/2006/main" x="609600" y="1571625"/>
          <a:ext xmlns:a="http://schemas.openxmlformats.org/drawingml/2006/main" cx="10972800" cy="4238625"/>
        </p:xfrm>
        <a:graphic xmlns:a="http://schemas.openxmlformats.org/drawingml/2006/main">
          <a:graphicData uri="http://schemas.openxmlformats.org/drawingml/2006/table">
            <a:tbl>
              <a:tblPr/>
              <a:tblGrid>
                <a:gridCol w="1047750"/>
                <a:gridCol w="5429250"/>
                <a:gridCol w="1762125"/>
                <a:gridCol w="2733675"/>
              </a:tblGrid>
              <a:tr h="529828">
                <a:tc>
                  <a:txBody>
                    <a:bodyPr/>
                    <a:lstStyle/>
                    <a:p>
                      <a:r>
                        <a:rPr sz="1725" b="1">
                          <a:solidFill>
                            <a:srgbClr val="FFFFFF"/>
                          </a:solidFill>
                          <a:latin typeface="Arial"/>
                          <a:ea typeface="Arial"/>
                          <a:cs typeface="Arial"/>
                        </a:rPr>
                        <a:t>Case</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Request shape</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Toy modes</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Validated / hardened</a:t>
                      </a:r>
                    </a:p>
                  </a:txBody>
                  <a:tcPr marL="133350" marR="133350" marT="76200" marB="76200" anchor="ctr">
                    <a:solidFill>
                      <a:srgbClr val="17252C"/>
                    </a:solidFill>
                  </a:tcPr>
                </a:tc>
              </a:tr>
              <a:tr h="529828">
                <a:tc>
                  <a:txBody>
                    <a:bodyPr/>
                    <a:lstStyle/>
                    <a:p>
                      <a:r>
                        <a:rPr sz="1725">
                          <a:solidFill>
                            <a:srgbClr val="17252C"/>
                          </a:solidFill>
                          <a:latin typeface="Arial"/>
                          <a:ea typeface="Arial"/>
                          <a:cs typeface="Arial"/>
                        </a:rPr>
                        <a:t>C09</a:t>
                      </a:r>
                    </a:p>
                  </a:txBody>
                  <a:tcPr marL="133350" marR="133350" marT="76200" marB="76200" anchor="ctr">
                    <a:solidFill>
                      <a:srgbClr val="F6F6F2"/>
                    </a:solidFill>
                  </a:tcPr>
                </a:tc>
                <a:tc>
                  <a:txBody>
                    <a:bodyPr/>
                    <a:lstStyle/>
                    <a:p>
                      <a:r>
                        <a:rPr sz="1725">
                          <a:solidFill>
                            <a:srgbClr val="17252C"/>
                          </a:solidFill>
                          <a:latin typeface="Arial"/>
                          <a:ea typeface="Arial"/>
                          <a:cs typeface="Arial"/>
                        </a:rPr>
                        <a:t>Missing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Numeric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Extra field with valid credentials</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C12</a:t>
                      </a:r>
                    </a:p>
                  </a:txBody>
                  <a:tcPr marL="133350" marR="133350" marT="76200" marB="76200" anchor="ctr">
                    <a:solidFill>
                      <a:srgbClr val="F6F6F2"/>
                    </a:solidFill>
                  </a:tcPr>
                </a:tc>
                <a:tc>
                  <a:txBody>
                    <a:bodyPr/>
                    <a:lstStyle/>
                    <a:p>
                      <a:r>
                        <a:rPr sz="1725">
                          <a:solidFill>
                            <a:srgbClr val="17252C"/>
                          </a:solidFill>
                          <a:latin typeface="Arial"/>
                          <a:ea typeface="Arial"/>
                          <a:cs typeface="Arial"/>
                        </a:rPr>
                        <a:t>Top-level array</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C13</a:t>
                      </a:r>
                    </a:p>
                  </a:txBody>
                  <a:tcPr marL="133350" marR="133350" marT="76200" marB="76200" anchor="ctr">
                    <a:solidFill>
                      <a:srgbClr val="F6F6F2"/>
                    </a:solidFill>
                  </a:tcPr>
                </a:tc>
                <a:tc>
                  <a:txBody>
                    <a:bodyPr/>
                    <a:lstStyle/>
                    <a:p>
                      <a:r>
                        <a:rPr sz="1725">
                          <a:solidFill>
                            <a:srgbClr val="17252C"/>
                          </a:solidFill>
                          <a:latin typeface="Arial"/>
                          <a:ea typeface="Arial"/>
                          <a:cs typeface="Arial"/>
                        </a:rPr>
                        <a:t>Both fields contain operators</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C14</a:t>
                      </a:r>
                    </a:p>
                  </a:txBody>
                  <a:tcPr marL="133350" marR="133350" marT="76200" marB="76200" anchor="ctr">
                    <a:solidFill>
                      <a:srgbClr val="F6F6F2"/>
                    </a:solidFill>
                  </a:tcPr>
                </a:tc>
                <a:tc>
                  <a:txBody>
                    <a:bodyPr/>
                    <a:lstStyle/>
                    <a:p>
                      <a:r>
                        <a:rPr sz="1725">
                          <a:solidFill>
                            <a:srgbClr val="17252C"/>
                          </a:solidFill>
                          <a:latin typeface="Arial"/>
                          <a:ea typeface="Arial"/>
                          <a:cs typeface="Arial"/>
                        </a:rPr>
                        <a:t>Empty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C15</a:t>
                      </a:r>
                    </a:p>
                  </a:txBody>
                  <a:tcPr marL="133350" marR="133350" marT="76200" marB="76200" anchor="ctr">
                    <a:solidFill>
                      <a:srgbClr val="F6F6F2"/>
                    </a:solidFill>
                  </a:tcPr>
                </a:tc>
                <a:tc>
                  <a:txBody>
                    <a:bodyPr/>
                    <a:lstStyle/>
                    <a:p>
                      <a:r>
                        <a:rPr sz="1725">
                          <a:solidFill>
                            <a:srgbClr val="17252C"/>
                          </a:solidFill>
                          <a:latin typeface="Arial"/>
                          <a:ea typeface="Arial"/>
                          <a:cs typeface="Arial"/>
                        </a:rPr>
                        <a:t>Empty username</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bl>
          </a:graphicData>
        </a:graphic>
      </p:graphicFrame>
    </p:spTree>
    <p:extLst>
      <p:ext uri="{BB962C8B-B14F-4D97-AF65-F5344CB8AC3E}">
        <p14:creationId xmlns:p14="http://schemas.microsoft.com/office/powerpoint/2010/main" val="2018649366"/>
      </p:ext>
    </p:extLst>
  </p:cSld>
</p:sld>
</file>

<file path=ppt/slides/slide19.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FF8B52E-A4C8-4402-94B7-511D86CBDD24}"/>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independent configuration checks</a:t>
            </a:r>
          </a:p>
        </p:txBody>
      </p:sp>
      <p:sp>
        <p:nvSpPr>
          <p:cNvPr id="2" name="">
            <a:extLst xmlns:a="http://schemas.openxmlformats.org/drawingml/2006/main">
              <a:ext uri="{FF2B5EF4-FFF2-40B4-BE49-F238E27FC236}">
                <a16:creationId xmlns:a16="http://schemas.microsoft.com/office/drawing/2014/main" id="{EDB02FB0-7B92-4CB7-893D-5D2B811E1EDE}"/>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19</a:t>
            </a:r>
          </a:p>
        </p:txBody>
      </p:sp>
      <p:graphicFrame>
        <p:nvGraphicFramePr>
          <p:cNvPr id="3" name="">
            <a:extLst xmlns:a="http://schemas.openxmlformats.org/drawingml/2006/main">
              <a:ext uri="{FF2B5EF4-FFF2-40B4-BE49-F238E27FC236}">
                <a16:creationId xmlns:a16="http://schemas.microsoft.com/office/drawing/2014/main" id="{D4A791A6-BF48-42A8-9B30-E8AB748D4B8A}"/>
              </a:ext>
            </a:extLst>
          </p:cNvPr>
          <p:cNvGraphicFramePr/>
          <p:nvPr/>
        </p:nvGraphicFramePr>
        <p:xfrm>
          <a:off xmlns:a="http://schemas.openxmlformats.org/drawingml/2006/main" x="609600" y="1666875"/>
          <a:ext xmlns:a="http://schemas.openxmlformats.org/drawingml/2006/main" cx="10972800" cy="3476625"/>
        </p:xfrm>
        <a:graphic xmlns:a="http://schemas.openxmlformats.org/drawingml/2006/main">
          <a:graphicData uri="http://schemas.openxmlformats.org/drawingml/2006/table">
            <a:tbl>
              <a:tblPr/>
              <a:tblGrid>
                <a:gridCol w="4476750"/>
                <a:gridCol w="6496050"/>
              </a:tblGrid>
              <a:tr h="579438">
                <a:tc>
                  <a:txBody>
                    <a:bodyPr/>
                    <a:lstStyle/>
                    <a:p>
                      <a:r>
                        <a:rPr sz="1950" b="1">
                          <a:solidFill>
                            <a:srgbClr val="FFFFFF"/>
                          </a:solidFill>
                          <a:latin typeface="Arial"/>
                          <a:ea typeface="Arial"/>
                          <a:cs typeface="Arial"/>
                        </a:rPr>
                        <a:t>Control</a:t>
                      </a:r>
                    </a:p>
                  </a:txBody>
                  <a:tcPr marL="133350" marR="133350" marT="76200" marB="76200" anchor="ctr">
                    <a:solidFill>
                      <a:srgbClr val="17252C"/>
                    </a:solidFill>
                  </a:tcPr>
                </a:tc>
                <a:tc>
                  <a:txBody>
                    <a:bodyPr/>
                    <a:lstStyle/>
                    <a:p>
                      <a:r>
                        <a:rPr sz="1950" b="1">
                          <a:solidFill>
                            <a:srgbClr val="FFFFFF"/>
                          </a:solidFill>
                          <a:latin typeface="Arial"/>
                          <a:ea typeface="Arial"/>
                          <a:cs typeface="Arial"/>
                        </a:rPr>
                        <a:t>Independent observation</a:t>
                      </a:r>
                    </a:p>
                  </a:txBody>
                  <a:tcPr marL="133350" marR="133350" marT="76200" marB="76200" anchor="ctr">
                    <a:solidFill>
                      <a:srgbClr val="17252C"/>
                    </a:solidFill>
                  </a:tcPr>
                </a:tc>
              </a:tr>
              <a:tr h="579438">
                <a:tc>
                  <a:txBody>
                    <a:bodyPr/>
                    <a:lstStyle/>
                    <a:p>
                      <a:r>
                        <a:rPr sz="1950">
                          <a:solidFill>
                            <a:srgbClr val="17252C"/>
                          </a:solidFill>
                          <a:latin typeface="Arial"/>
                          <a:ea typeface="Arial"/>
                          <a:cs typeface="Arial"/>
                        </a:rPr>
                        <a:t>Authenticated read-only account</a:t>
                      </a:r>
                    </a:p>
                  </a:txBody>
                  <a:tcPr marL="133350" marR="133350" marT="76200" marB="76200" anchor="ctr">
                    <a:solidFill>
                      <a:srgbClr val="F6F6F2"/>
                    </a:solidFill>
                  </a:tcPr>
                </a:tc>
                <a:tc>
                  <a:txBody>
                    <a:bodyPr/>
                    <a:lstStyle/>
                    <a:p>
                      <a:r>
                        <a:rPr sz="1950">
                          <a:solidFill>
                            <a:srgbClr val="17252C"/>
                          </a:solidFill>
                          <a:latin typeface="Arial"/>
                          <a:ea typeface="Arial"/>
                          <a:cs typeface="Arial"/>
                        </a:rPr>
                        <a:t>labreader / read role on cs440_lab</a:t>
                      </a:r>
                    </a:p>
                  </a:txBody>
                  <a:tcPr marL="133350" marR="133350" marT="76200" marB="76200" anchor="ctr">
                    <a:solidFill>
                      <a:srgbClr val="F6F6F2"/>
                    </a:solidFill>
                  </a:tcPr>
                </a:tc>
              </a:tr>
              <a:tr h="579438">
                <a:tc>
                  <a:txBody>
                    <a:bodyPr/>
                    <a:lstStyle/>
                    <a:p>
                      <a:r>
                        <a:rPr sz="1950">
                          <a:solidFill>
                            <a:srgbClr val="17252C"/>
                          </a:solidFill>
                          <a:latin typeface="Arial"/>
                          <a:ea typeface="Arial"/>
                          <a:cs typeface="Arial"/>
                        </a:rPr>
                        <a:t>Read permission</a:t>
                      </a:r>
                    </a:p>
                  </a:txBody>
                  <a:tcPr marL="133350" marR="133350" marT="76200" marB="76200" anchor="ctr">
                    <a:solidFill>
                      <a:srgbClr val="F6F6F2"/>
                    </a:solidFill>
                  </a:tcPr>
                </a:tc>
                <a:tc>
                  <a:txBody>
                    <a:bodyPr/>
                    <a:lstStyle/>
                    <a:p>
                      <a:r>
                        <a:rPr sz="1950">
                          <a:solidFill>
                            <a:srgbClr val="17252C"/>
                          </a:solidFill>
                          <a:latin typeface="Arial"/>
                          <a:ea typeface="Arial"/>
                          <a:cs typeface="Arial"/>
                        </a:rPr>
                        <a:t>Alice record lookup succeeds</a:t>
                      </a:r>
                    </a:p>
                  </a:txBody>
                  <a:tcPr marL="133350" marR="133350" marT="76200" marB="76200" anchor="ctr">
                    <a:solidFill>
                      <a:srgbClr val="F6F6F2"/>
                    </a:solidFill>
                  </a:tcPr>
                </a:tc>
              </a:tr>
              <a:tr h="579438">
                <a:tc>
                  <a:txBody>
                    <a:bodyPr/>
                    <a:lstStyle/>
                    <a:p>
                      <a:r>
                        <a:rPr sz="1950">
                          <a:solidFill>
                            <a:srgbClr val="17252C"/>
                          </a:solidFill>
                          <a:latin typeface="Arial"/>
                          <a:ea typeface="Arial"/>
                          <a:cs typeface="Arial"/>
                        </a:rPr>
                        <a:t>Write restriction</a:t>
                      </a:r>
                    </a:p>
                  </a:txBody>
                  <a:tcPr marL="133350" marR="133350" marT="76200" marB="76200" anchor="ctr">
                    <a:solidFill>
                      <a:srgbClr val="F6F6F2"/>
                    </a:solidFill>
                  </a:tcPr>
                </a:tc>
                <a:tc>
                  <a:txBody>
                    <a:bodyPr/>
                    <a:lstStyle/>
                    <a:p>
                      <a:r>
                        <a:rPr sz="1950">
                          <a:solidFill>
                            <a:srgbClr val="17252C"/>
                          </a:solidFill>
                          <a:latin typeface="Arial"/>
                          <a:ea typeface="Arial"/>
                          <a:cs typeface="Arial"/>
                        </a:rPr>
                        <a:t>Insert fails: code 13 / Unauthorized</a:t>
                      </a:r>
                    </a:p>
                  </a:txBody>
                  <a:tcPr marL="133350" marR="133350" marT="76200" marB="76200" anchor="ctr">
                    <a:solidFill>
                      <a:srgbClr val="F6F6F2"/>
                    </a:solidFill>
                  </a:tcPr>
                </a:tc>
              </a:tr>
              <a:tr h="579438">
                <a:tc>
                  <a:txBody>
                    <a:bodyPr/>
                    <a:lstStyle/>
                    <a:p>
                      <a:r>
                        <a:rPr sz="1950">
                          <a:solidFill>
                            <a:srgbClr val="17252C"/>
                          </a:solidFill>
                          <a:latin typeface="Arial"/>
                          <a:ea typeface="Arial"/>
                          <a:cs typeface="Arial"/>
                        </a:rPr>
                        <a:t>JavaScript enabled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Harmless $where predicate returns Alice</a:t>
                      </a:r>
                    </a:p>
                  </a:txBody>
                  <a:tcPr marL="133350" marR="133350" marT="76200" marB="76200" anchor="ctr">
                    <a:solidFill>
                      <a:srgbClr val="F6F6F2"/>
                    </a:solidFill>
                  </a:tcPr>
                </a:tc>
              </a:tr>
              <a:tr h="579438">
                <a:tc>
                  <a:txBody>
                    <a:bodyPr/>
                    <a:lstStyle/>
                    <a:p>
                      <a:r>
                        <a:rPr sz="1950">
                          <a:solidFill>
                            <a:srgbClr val="17252C"/>
                          </a:solidFill>
                          <a:latin typeface="Arial"/>
                          <a:ea typeface="Arial"/>
                          <a:cs typeface="Arial"/>
                        </a:rPr>
                        <a:t>JavaScript disabled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Same $where fails: code 6108304</a:t>
                      </a:r>
                    </a:p>
                  </a:txBody>
                  <a:tcPr marL="133350" marR="133350" marT="76200" marB="76200" anchor="ctr">
                    <a:solidFill>
                      <a:srgbClr val="F6F6F2"/>
                    </a:solidFill>
                  </a:tcPr>
                </a:tc>
              </a:tr>
            </a:tbl>
          </a:graphicData>
        </a:graphic>
      </p:graphicFrame>
      <p:sp>
        <p:nvSpPr>
          <p:cNvPr id="4" name="">
            <a:extLst xmlns:a="http://schemas.openxmlformats.org/drawingml/2006/main">
              <a:ext uri="{FF2B5EF4-FFF2-40B4-BE49-F238E27FC236}">
                <a16:creationId xmlns:a16="http://schemas.microsoft.com/office/drawing/2014/main" id="{250F12E8-8082-44B2-BC7B-027E074D5714}"/>
              </a:ext>
            </a:extLst>
          </p:cNvPr>
          <p:cNvSpPr>
            <a:spLocks xmlns:a="http://schemas.openxmlformats.org/drawingml/2006/main" noGrp="1"/>
          </p:cNvSpPr>
          <p:nvPr/>
        </p:nvSpPr>
        <p:spPr>
          <a:xfrm xmlns:a="http://schemas.openxmlformats.org/drawingml/2006/main">
            <a:off x="609600" y="5581650"/>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AF3047"/>
                </a:solidFill>
                <a:latin typeface="Arial"/>
                <a:ea typeface="Arial"/>
                <a:cs typeface="Arial"/>
              </a:defRPr>
            </a:defPPr>
          </a:lstStyle>
          <a:p xmlns:a="http://schemas.openxmlformats.org/drawingml/2006/main">
            <a:pPr>
              <a:defRPr sz="2175" b="1">
                <a:solidFill>
                  <a:srgbClr val="AF3047"/>
                </a:solidFill>
                <a:latin typeface="Arial"/>
                <a:ea typeface="Arial"/>
                <a:cs typeface="Arial"/>
              </a:defRPr>
            </a:pPr>
            <a:r>
              <a:rPr sz="2175" b="1">
                <a:solidFill>
                  <a:srgbClr val="AF3047"/>
                </a:solidFill>
                <a:latin typeface="Arial"/>
                <a:ea typeface="Arial"/>
                <a:cs typeface="Arial"/>
              </a:rPr>
              <a:t>C04 still creates a session in both control configurations</a:t>
            </a:r>
          </a:p>
        </p:txBody>
      </p:sp>
    </p:spTree>
    <p:extLst>
      <p:ext uri="{BB962C8B-B14F-4D97-AF65-F5344CB8AC3E}">
        <p14:creationId xmlns:p14="http://schemas.microsoft.com/office/powerpoint/2010/main" val="635413205"/>
      </p:ext>
    </p:extLst>
  </p:cSld>
</p:sld>
</file>

<file path=ppt/slides/slide20.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6F511C0-1234-4B4F-A47F-5F8EE3130755}"/>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captured authentication bypass</a:t>
            </a:r>
          </a:p>
        </p:txBody>
      </p:sp>
      <p:sp>
        <p:nvSpPr>
          <p:cNvPr id="2" name="">
            <a:extLst xmlns:a="http://schemas.openxmlformats.org/drawingml/2006/main">
              <a:ext uri="{FF2B5EF4-FFF2-40B4-BE49-F238E27FC236}">
                <a16:creationId xmlns:a16="http://schemas.microsoft.com/office/drawing/2014/main" id="{33E308FA-121A-4882-931F-5435C737EBB7}"/>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EC9FC8F0-AD5A-47A1-9B57-F04D76FA242D}"/>
              </a:ext>
            </a:extLst>
          </p:cNvPr>
          <p:cNvSpPr>
            <a:spLocks xmlns:a="http://schemas.openxmlformats.org/drawingml/2006/main" noGrp="1"/>
          </p:cNvSpPr>
          <p:nvPr/>
        </p:nvSpPr>
        <p:spPr>
          <a:xfrm xmlns:a="http://schemas.openxmlformats.org/drawingml/2006/main">
            <a:off x="609600" y="1571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AF3047"/>
                </a:solidFill>
                <a:latin typeface="Arial"/>
                <a:ea typeface="Arial"/>
                <a:cs typeface="Arial"/>
              </a:defRPr>
            </a:defPPr>
          </a:lstStyle>
          <a:p xmlns:a="http://schemas.openxmlformats.org/drawingml/2006/main">
            <a:pPr>
              <a:defRPr sz="2175" b="1">
                <a:solidFill>
                  <a:srgbClr val="AF3047"/>
                </a:solidFill>
                <a:latin typeface="Arial"/>
                <a:ea typeface="Arial"/>
                <a:cs typeface="Arial"/>
              </a:defRPr>
            </a:pPr>
            <a:r>
              <a:rPr sz="2175" b="1">
                <a:solidFill>
                  <a:srgbClr val="AF3047"/>
                </a:solidFill>
                <a:latin typeface="Arial"/>
                <a:ea typeface="Arial"/>
                <a:cs typeface="Arial"/>
              </a:rPr>
              <a:t>C04 / baseline: Alice session; protected notes accessible</a:t>
            </a:r>
          </a:p>
        </p:txBody>
      </p:sp>
      <p:sp>
        <p:nvSpPr>
          <p:cNvPr id="4" name="">
            <a:extLst xmlns:a="http://schemas.openxmlformats.org/drawingml/2006/main">
              <a:ext uri="{FF2B5EF4-FFF2-40B4-BE49-F238E27FC236}">
                <a16:creationId xmlns:a16="http://schemas.microsoft.com/office/drawing/2014/main" id="{5A2B4916-A52B-41AE-8237-9865D65FD814}"/>
              </a:ext>
            </a:extLst>
          </p:cNvPr>
          <p:cNvSpPr>
            <a:spLocks xmlns:a="http://schemas.openxmlformats.org/drawingml/2006/main" noGrp="1"/>
          </p:cNvSpPr>
          <p:nvPr/>
        </p:nvSpPr>
        <p:spPr>
          <a:xfrm xmlns:a="http://schemas.openxmlformats.org/drawingml/2006/main">
            <a:off x="609600" y="27241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51616A"/>
                </a:solidFill>
                <a:latin typeface="Arial"/>
                <a:ea typeface="Arial"/>
                <a:cs typeface="Arial"/>
              </a:defRPr>
            </a:defPPr>
          </a:lstStyle>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DATABASE PREDICATE</a:t>
            </a:r>
          </a:p>
        </p:txBody>
      </p:sp>
      <p:sp>
        <p:nvSpPr>
          <p:cNvPr id="5" name="">
            <a:extLst xmlns:a="http://schemas.openxmlformats.org/drawingml/2006/main">
              <a:ext uri="{FF2B5EF4-FFF2-40B4-BE49-F238E27FC236}">
                <a16:creationId xmlns:a16="http://schemas.microsoft.com/office/drawing/2014/main" id="{35E0CB17-F67F-4BFF-9B48-25D966AB7642}"/>
              </a:ext>
            </a:extLst>
          </p:cNvPr>
          <p:cNvSpPr>
            <a:spLocks xmlns:a="http://schemas.openxmlformats.org/drawingml/2006/main" noGrp="1"/>
          </p:cNvSpPr>
          <p:nvPr/>
        </p:nvSpPr>
        <p:spPr>
          <a:xfrm xmlns:a="http://schemas.openxmlformats.org/drawingml/2006/main">
            <a:off x="6381750" y="272415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51616A"/>
                </a:solidFill>
                <a:latin typeface="Arial"/>
                <a:ea typeface="Arial"/>
                <a:cs typeface="Arial"/>
              </a:defRPr>
            </a:defPPr>
          </a:lstStyle>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APPLICATION DECISION</a:t>
            </a:r>
          </a:p>
        </p:txBody>
      </p:sp>
      <p:pic>
        <p:nvPicPr>
          <p:cNvPr id="6" name="">
            <a:extLst xmlns:a="http://schemas.openxmlformats.org/drawingml/2006/main">
              <a:ext uri="{FF2B5EF4-FFF2-40B4-BE49-F238E27FC236}">
                <a16:creationId xmlns:a16="http://schemas.microsoft.com/office/drawing/2014/main" id="{6E5AC188-240A-404C-86F6-CD82D611D1D7}"/>
              </a:ext>
            </a:extLst>
          </p:cNvPr>
          <p:cNvPicPr>
            <a:picLocks xmlns:a="http://schemas.openxmlformats.org/drawingml/2006/main" noChangeAspect="1"/>
          </p:cNvPicPr>
          <p:nvPr/>
        </p:nvPicPr>
        <p:blipFill>
          <a:blip xmlns:r="http://schemas.openxmlformats.org/officeDocument/2006/relationships" xmlns:a="http://schemas.openxmlformats.org/drawingml/2006/main" r:embed="R7b95a551ebda4de9"/>
          <a:stretch xmlns:a="http://schemas.openxmlformats.org/drawingml/2006/main"/>
        </p:blipFill>
        <p:spPr>
          <a:xfrm xmlns:a="http://schemas.openxmlformats.org/drawingml/2006/main">
            <a:off x="609600" y="3457408"/>
            <a:ext cx="5200650" cy="2067258"/>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087A45C-4173-409D-B524-1F3A7562743A}"/>
              </a:ext>
            </a:extLst>
          </p:cNvPr>
          <p:cNvPicPr>
            <a:picLocks xmlns:a="http://schemas.openxmlformats.org/drawingml/2006/main" noChangeAspect="1"/>
          </p:cNvPicPr>
          <p:nvPr/>
        </p:nvPicPr>
        <p:blipFill>
          <a:blip xmlns:r="http://schemas.openxmlformats.org/officeDocument/2006/relationships" xmlns:a="http://schemas.openxmlformats.org/drawingml/2006/main" r:embed="Rd6af8b2e97fd4dbf"/>
          <a:stretch xmlns:a="http://schemas.openxmlformats.org/drawingml/2006/main"/>
        </p:blipFill>
        <p:spPr>
          <a:xfrm xmlns:a="http://schemas.openxmlformats.org/drawingml/2006/main">
            <a:off x="6381750" y="3307890"/>
            <a:ext cx="5200650" cy="2366296"/>
          </a:xfrm>
          <a:prstGeom xmlns:a="http://schemas.openxmlformats.org/drawingml/2006/main" prst="rect">
            <a:avLst/>
          </a:prstGeom>
        </p:spPr>
      </p:pic>
    </p:spTree>
    <p:extLst>
      <p:ext uri="{BB962C8B-B14F-4D97-AF65-F5344CB8AC3E}">
        <p14:creationId xmlns:p14="http://schemas.microsoft.com/office/powerpoint/2010/main" val="1983737174"/>
      </p:ext>
    </p:extLst>
  </p:cSld>
</p:sld>
</file>

<file path=ppt/slides/slide21.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5766725-28BD-4A85-AECE-356D6BD6756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captured hardened rejection</a:t>
            </a:r>
          </a:p>
        </p:txBody>
      </p:sp>
      <p:sp>
        <p:nvSpPr>
          <p:cNvPr id="2" name="">
            <a:extLst xmlns:a="http://schemas.openxmlformats.org/drawingml/2006/main">
              <a:ext uri="{FF2B5EF4-FFF2-40B4-BE49-F238E27FC236}">
                <a16:creationId xmlns:a16="http://schemas.microsoft.com/office/drawing/2014/main" id="{D9CC44D9-DED8-4BFE-B6BB-0C8F35EBC74C}"/>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CE780B2D-5631-4738-A6F3-BA64472A2A0A}"/>
              </a:ext>
            </a:extLst>
          </p:cNvPr>
          <p:cNvSpPr>
            <a:spLocks xmlns:a="http://schemas.openxmlformats.org/drawingml/2006/main" noGrp="1"/>
          </p:cNvSpPr>
          <p:nvPr/>
        </p:nvSpPr>
        <p:spPr>
          <a:xfrm xmlns:a="http://schemas.openxmlformats.org/drawingml/2006/main">
            <a:off x="609600" y="1571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87B6D"/>
                </a:solidFill>
                <a:latin typeface="Arial"/>
                <a:ea typeface="Arial"/>
                <a:cs typeface="Arial"/>
              </a:defRPr>
            </a:defPPr>
          </a:lstStyle>
          <a:p xmlns:a="http://schemas.openxmlformats.org/drawingml/2006/main">
            <a:pPr>
              <a:defRPr sz="2175" b="1">
                <a:solidFill>
                  <a:srgbClr val="087B6D"/>
                </a:solidFill>
                <a:latin typeface="Arial"/>
                <a:ea typeface="Arial"/>
                <a:cs typeface="Arial"/>
              </a:defRPr>
            </a:pPr>
            <a:r>
              <a:rPr sz="2175" b="1">
                <a:solidFill>
                  <a:srgbClr val="087B6D"/>
                </a:solidFill>
                <a:latin typeface="Arial"/>
                <a:ea typeface="Arial"/>
                <a:cs typeface="Arial"/>
              </a:rPr>
              <a:t>C04 / hardened: no query; no session; protected notes denied</a:t>
            </a:r>
          </a:p>
        </p:txBody>
      </p:sp>
      <p:sp>
        <p:nvSpPr>
          <p:cNvPr id="4" name="">
            <a:extLst xmlns:a="http://schemas.openxmlformats.org/drawingml/2006/main">
              <a:ext uri="{FF2B5EF4-FFF2-40B4-BE49-F238E27FC236}">
                <a16:creationId xmlns:a16="http://schemas.microsoft.com/office/drawing/2014/main" id="{A512363E-31C1-4B5A-BC17-3EADDAF661C7}"/>
              </a:ext>
            </a:extLst>
          </p:cNvPr>
          <p:cNvSpPr>
            <a:spLocks xmlns:a="http://schemas.openxmlformats.org/drawingml/2006/main" noGrp="1"/>
          </p:cNvSpPr>
          <p:nvPr/>
        </p:nvSpPr>
        <p:spPr>
          <a:xfrm xmlns:a="http://schemas.openxmlformats.org/drawingml/2006/main">
            <a:off x="609600" y="27241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51616A"/>
                </a:solidFill>
                <a:latin typeface="Arial"/>
                <a:ea typeface="Arial"/>
                <a:cs typeface="Arial"/>
              </a:defRPr>
            </a:defPPr>
          </a:lstStyle>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DATABASE PREDICATE</a:t>
            </a:r>
          </a:p>
        </p:txBody>
      </p:sp>
      <p:sp>
        <p:nvSpPr>
          <p:cNvPr id="5" name="">
            <a:extLst xmlns:a="http://schemas.openxmlformats.org/drawingml/2006/main">
              <a:ext uri="{FF2B5EF4-FFF2-40B4-BE49-F238E27FC236}">
                <a16:creationId xmlns:a16="http://schemas.microsoft.com/office/drawing/2014/main" id="{3E679CFD-7819-4BB5-A008-A24AA15C77D0}"/>
              </a:ext>
            </a:extLst>
          </p:cNvPr>
          <p:cNvSpPr>
            <a:spLocks xmlns:a="http://schemas.openxmlformats.org/drawingml/2006/main" noGrp="1"/>
          </p:cNvSpPr>
          <p:nvPr/>
        </p:nvSpPr>
        <p:spPr>
          <a:xfrm xmlns:a="http://schemas.openxmlformats.org/drawingml/2006/main">
            <a:off x="6381750" y="272415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51616A"/>
                </a:solidFill>
                <a:latin typeface="Arial"/>
                <a:ea typeface="Arial"/>
                <a:cs typeface="Arial"/>
              </a:defRPr>
            </a:defPPr>
          </a:lstStyle>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APPLICATION DECISION</a:t>
            </a:r>
          </a:p>
        </p:txBody>
      </p:sp>
      <p:pic>
        <p:nvPicPr>
          <p:cNvPr id="6" name="">
            <a:extLst xmlns:a="http://schemas.openxmlformats.org/drawingml/2006/main">
              <a:ext uri="{FF2B5EF4-FFF2-40B4-BE49-F238E27FC236}">
                <a16:creationId xmlns:a16="http://schemas.microsoft.com/office/drawing/2014/main" id="{8CE6ACDF-2629-45B9-BB28-D06DA5A9BF66}"/>
              </a:ext>
            </a:extLst>
          </p:cNvPr>
          <p:cNvPicPr>
            <a:picLocks xmlns:a="http://schemas.openxmlformats.org/drawingml/2006/main" noChangeAspect="1"/>
          </p:cNvPicPr>
          <p:nvPr/>
        </p:nvPicPr>
        <p:blipFill>
          <a:blip xmlns:r="http://schemas.openxmlformats.org/officeDocument/2006/relationships" xmlns:a="http://schemas.openxmlformats.org/drawingml/2006/main" r:embed="Rd5336c63bcab48a9"/>
          <a:stretch xmlns:a="http://schemas.openxmlformats.org/drawingml/2006/main"/>
        </p:blipFill>
        <p:spPr>
          <a:xfrm xmlns:a="http://schemas.openxmlformats.org/drawingml/2006/main">
            <a:off x="609600" y="3382804"/>
            <a:ext cx="5200650" cy="2216468"/>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CB9747F-FD0A-4573-AE62-DDF759AE2237}"/>
              </a:ext>
            </a:extLst>
          </p:cNvPr>
          <p:cNvPicPr>
            <a:picLocks xmlns:a="http://schemas.openxmlformats.org/drawingml/2006/main" noChangeAspect="1"/>
          </p:cNvPicPr>
          <p:nvPr/>
        </p:nvPicPr>
        <p:blipFill>
          <a:blip xmlns:r="http://schemas.openxmlformats.org/officeDocument/2006/relationships" xmlns:a="http://schemas.openxmlformats.org/drawingml/2006/main" r:embed="R3e56784cdc1e4d5c"/>
          <a:stretch xmlns:a="http://schemas.openxmlformats.org/drawingml/2006/main"/>
        </p:blipFill>
        <p:spPr>
          <a:xfrm xmlns:a="http://schemas.openxmlformats.org/drawingml/2006/main">
            <a:off x="6381750" y="3364230"/>
            <a:ext cx="5200650" cy="2253615"/>
          </a:xfrm>
          <a:prstGeom xmlns:a="http://schemas.openxmlformats.org/drawingml/2006/main" prst="rect">
            <a:avLst/>
          </a:prstGeom>
        </p:spPr>
      </p:pic>
    </p:spTree>
    <p:extLst>
      <p:ext uri="{BB962C8B-B14F-4D97-AF65-F5344CB8AC3E}">
        <p14:creationId xmlns:p14="http://schemas.microsoft.com/office/powerpoint/2010/main" val="357634701"/>
      </p:ext>
    </p:extLst>
  </p:cSld>
</p:sld>
</file>

<file path=ppt/slides/slide22.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0C54DF9-FF37-4FC4-8707-9C7A84188D24}"/>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limits and further investigation</a:t>
            </a:r>
          </a:p>
        </p:txBody>
      </p:sp>
      <p:sp>
        <p:nvSpPr>
          <p:cNvPr id="2" name="">
            <a:extLst xmlns:a="http://schemas.openxmlformats.org/drawingml/2006/main">
              <a:ext uri="{FF2B5EF4-FFF2-40B4-BE49-F238E27FC236}">
                <a16:creationId xmlns:a16="http://schemas.microsoft.com/office/drawing/2014/main" id="{D5490621-1989-4508-BCA0-77141D9DD037}"/>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F09124FC-1D4C-4814-91D0-6158D2B76782}"/>
              </a:ext>
            </a:extLst>
          </p:cNvPr>
          <p:cNvSpPr>
            <a:spLocks xmlns:a="http://schemas.openxmlformats.org/drawingml/2006/main" noGrp="1"/>
          </p:cNvSpPr>
          <p:nvPr/>
        </p:nvSpPr>
        <p:spPr>
          <a:xfrm xmlns:a="http://schemas.openxmlformats.org/drawingml/2006/main">
            <a:off x="609600" y="17145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087B6D"/>
                </a:solidFill>
                <a:latin typeface="Arial"/>
                <a:ea typeface="Arial"/>
                <a:cs typeface="Arial"/>
              </a:defRPr>
            </a:defPPr>
          </a:lstStyle>
          <a:p xmlns:a="http://schemas.openxmlformats.org/drawingml/2006/main">
            <a:pPr>
              <a:defRPr sz="2550" b="1">
                <a:solidFill>
                  <a:srgbClr val="087B6D"/>
                </a:solidFill>
                <a:latin typeface="Arial"/>
                <a:ea typeface="Arial"/>
                <a:cs typeface="Arial"/>
              </a:defRPr>
            </a:pPr>
            <a:r>
              <a:rPr sz="2550" b="1">
                <a:solidFill>
                  <a:srgbClr val="087B6D"/>
                </a:solidFill>
                <a:latin typeface="Arial"/>
                <a:ea typeface="Arial"/>
                <a:cs typeface="Arial"/>
              </a:rPr>
              <a:t>Established</a:t>
            </a:r>
          </a:p>
        </p:txBody>
      </p:sp>
      <p:sp>
        <p:nvSpPr>
          <p:cNvPr id="4" name="">
            <a:extLst xmlns:a="http://schemas.openxmlformats.org/drawingml/2006/main">
              <a:ext uri="{FF2B5EF4-FFF2-40B4-BE49-F238E27FC236}">
                <a16:creationId xmlns:a16="http://schemas.microsoft.com/office/drawing/2014/main" id="{E26FD762-9C45-466E-80AA-E10640980A22}"/>
              </a:ext>
            </a:extLst>
          </p:cNvPr>
          <p:cNvSpPr>
            <a:spLocks xmlns:a="http://schemas.openxmlformats.org/drawingml/2006/main" noGrp="1"/>
          </p:cNvSpPr>
          <p:nvPr/>
        </p:nvSpPr>
        <p:spPr>
          <a:xfrm xmlns:a="http://schemas.openxmlformats.org/drawingml/2006/main">
            <a:off x="609600" y="2381250"/>
            <a:ext cx="52387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7252C"/>
                </a:solidFill>
                <a:latin typeface="Arial"/>
                <a:ea typeface="Arial"/>
                <a:cs typeface="Arial"/>
              </a:defRPr>
            </a:defPPr>
          </a:lstStyle>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Operator bypass in this toy login</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Control behaviour in the recorded stack</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Rejection before a find command</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Preservation of valid login</a:t>
            </a:r>
          </a:p>
        </p:txBody>
      </p:sp>
      <p:sp>
        <p:nvSpPr>
          <p:cNvPr id="5" name="">
            <a:extLst xmlns:a="http://schemas.openxmlformats.org/drawingml/2006/main">
              <a:ext uri="{FF2B5EF4-FFF2-40B4-BE49-F238E27FC236}">
                <a16:creationId xmlns:a16="http://schemas.microsoft.com/office/drawing/2014/main" id="{DC5B06B2-653D-474B-AC9D-F162C26ACF98}"/>
              </a:ext>
            </a:extLst>
          </p:cNvPr>
          <p:cNvSpPr>
            <a:spLocks xmlns:a="http://schemas.openxmlformats.org/drawingml/2006/main" noGrp="1"/>
          </p:cNvSpPr>
          <p:nvPr/>
        </p:nvSpPr>
        <p:spPr>
          <a:xfrm xmlns:a="http://schemas.openxmlformats.org/drawingml/2006/main">
            <a:off x="6705600" y="171450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51616A"/>
                </a:solidFill>
                <a:latin typeface="Arial"/>
                <a:ea typeface="Arial"/>
                <a:cs typeface="Arial"/>
              </a:defRPr>
            </a:defPPr>
          </a:lstStyle>
          <a:p xmlns:a="http://schemas.openxmlformats.org/drawingml/2006/main">
            <a:pPr>
              <a:defRPr sz="2550" b="1">
                <a:solidFill>
                  <a:srgbClr val="51616A"/>
                </a:solidFill>
                <a:latin typeface="Arial"/>
                <a:ea typeface="Arial"/>
                <a:cs typeface="Arial"/>
              </a:defRPr>
            </a:pPr>
            <a:r>
              <a:rPr sz="2550" b="1">
                <a:solidFill>
                  <a:srgbClr val="51616A"/>
                </a:solidFill>
                <a:latin typeface="Arial"/>
                <a:ea typeface="Arial"/>
                <a:cs typeface="Arial"/>
              </a:rPr>
              <a:t>Outside the evidence</a:t>
            </a:r>
          </a:p>
        </p:txBody>
      </p:sp>
      <p:sp>
        <p:nvSpPr>
          <p:cNvPr id="6" name="">
            <a:extLst xmlns:a="http://schemas.openxmlformats.org/drawingml/2006/main">
              <a:ext uri="{FF2B5EF4-FFF2-40B4-BE49-F238E27FC236}">
                <a16:creationId xmlns:a16="http://schemas.microsoft.com/office/drawing/2014/main" id="{322D94AE-51BD-4A61-9E5F-1E0EEC60BFD1}"/>
              </a:ext>
            </a:extLst>
          </p:cNvPr>
          <p:cNvSpPr>
            <a:spLocks xmlns:a="http://schemas.openxmlformats.org/drawingml/2006/main" noGrp="1"/>
          </p:cNvSpPr>
          <p:nvPr/>
        </p:nvSpPr>
        <p:spPr>
          <a:xfrm xmlns:a="http://schemas.openxmlformats.org/drawingml/2006/main">
            <a:off x="6705600" y="2381250"/>
            <a:ext cx="48577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7252C"/>
                </a:solidFill>
                <a:latin typeface="Arial"/>
                <a:ea typeface="Arial"/>
                <a:cs typeface="Arial"/>
              </a:defRPr>
            </a:defPPr>
          </a:lstStyle>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JavaScript injection exploit</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Deployed prevalence</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Other DB versions or ODMs</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Arbitrary administrator access</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Complete production security</a:t>
            </a:r>
          </a:p>
        </p:txBody>
      </p:sp>
      <p:sp>
        <p:nvSpPr>
          <p:cNvPr id="7" name="">
            <a:extLst xmlns:a="http://schemas.openxmlformats.org/drawingml/2006/main">
              <a:ext uri="{FF2B5EF4-FFF2-40B4-BE49-F238E27FC236}">
                <a16:creationId xmlns:a16="http://schemas.microsoft.com/office/drawing/2014/main" id="{24207B62-91B8-44BC-950C-AF99D8660575}"/>
              </a:ext>
            </a:extLst>
          </p:cNvPr>
          <p:cNvSpPr>
            <a:spLocks xmlns:a="http://schemas.openxmlformats.org/drawingml/2006/main" noGrp="1"/>
          </p:cNvSpPr>
          <p:nvPr/>
        </p:nvSpPr>
        <p:spPr>
          <a:xfrm xmlns:a="http://schemas.openxmlformats.org/drawingml/2006/main">
            <a:off x="609600" y="5572125"/>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7252C"/>
                </a:solidFill>
                <a:latin typeface="Arial"/>
                <a:ea typeface="Arial"/>
                <a:cs typeface="Arial"/>
              </a:defRPr>
            </a:defPPr>
          </a:lstStyle>
          <a:p xmlns:a="http://schemas.openxmlformats.org/drawingml/2006/main">
            <a:pPr>
              <a:defRPr sz="2025" b="1">
                <a:solidFill>
                  <a:srgbClr val="17252C"/>
                </a:solidFill>
                <a:latin typeface="Arial"/>
                <a:ea typeface="Arial"/>
                <a:cs typeface="Arial"/>
              </a:defRPr>
            </a:pPr>
            <a:r>
              <a:rPr sz="2025" b="1">
                <a:solidFill>
                  <a:srgbClr val="17252C"/>
                </a:solidFill>
                <a:latin typeface="Arial"/>
                <a:ea typeface="Arial"/>
                <a:cs typeface="Arial"/>
              </a:rPr>
              <a:t>Next study: enforce mandatory ownership predicates in flexible search APIs</a:t>
            </a:r>
          </a:p>
        </p:txBody>
      </p:sp>
    </p:spTree>
    <p:extLst>
      <p:ext uri="{BB962C8B-B14F-4D97-AF65-F5344CB8AC3E}">
        <p14:creationId xmlns:p14="http://schemas.microsoft.com/office/powerpoint/2010/main" val="223340252"/>
      </p:ext>
    </p:extLst>
  </p:cSld>
</p:sld>
</file>

<file path=ppt/slides/slide23.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39E9544-3E70-4394-91A1-ADB8CC476F7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References: assigned article and database semantics</a:t>
            </a:r>
          </a:p>
        </p:txBody>
      </p:sp>
      <p:sp>
        <p:nvSpPr>
          <p:cNvPr id="2" name="">
            <a:extLst xmlns:a="http://schemas.openxmlformats.org/drawingml/2006/main">
              <a:ext uri="{FF2B5EF4-FFF2-40B4-BE49-F238E27FC236}">
                <a16:creationId xmlns:a16="http://schemas.microsoft.com/office/drawing/2014/main" id="{EA466F34-A569-465A-8B50-A8B1368EADA6}"/>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C58AF339-DF8C-43F7-8F47-D544A55B2045}"/>
              </a:ext>
            </a:extLst>
          </p:cNvPr>
          <p:cNvSpPr>
            <a:spLocks xmlns:a="http://schemas.openxmlformats.org/drawingml/2006/main" noGrp="1"/>
          </p:cNvSpPr>
          <p:nvPr/>
        </p:nvSpPr>
        <p:spPr>
          <a:xfrm xmlns:a="http://schemas.openxmlformats.org/drawingml/2006/main">
            <a:off x="609600" y="1676400"/>
            <a:ext cx="1095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52C"/>
                </a:solidFill>
                <a:latin typeface="Arial"/>
                <a:ea typeface="Arial"/>
                <a:cs typeface="Arial"/>
              </a:defRPr>
            </a:defPPr>
          </a:lstStyle>
          <a:p xmlns:a="http://schemas.openxmlformats.org/drawingml/2006/main">
            <a:pPr>
              <a:defRPr sz="2175" b="0">
                <a:solidFill>
                  <a:srgbClr val="17252C"/>
                </a:solidFill>
                <a:latin typeface="Arial"/>
                <a:ea typeface="Arial"/>
                <a:cs typeface="Arial"/>
              </a:defRPr>
            </a:pPr>
            <a:r>
              <a:rPr sz="2175" b="0">
                <a:solidFill>
                  <a:srgbClr val="17252C"/>
                </a:solidFill>
                <a:latin typeface="Arial"/>
                <a:ea typeface="Arial"/>
                <a:cs typeface="Arial"/>
              </a:rPr>
              <a:t>Ron, A., Shulman-Peleg, A. &amp; Puzanov, A. (2016)</a:t>
            </a:r>
          </a:p>
          <a:p xmlns:a="http://schemas.openxmlformats.org/drawingml/2006/main">
            <a:pPr>
              <a:defRPr sz="2175" b="0">
                <a:solidFill>
                  <a:srgbClr val="17252C"/>
                </a:solidFill>
                <a:latin typeface="Arial"/>
                <a:ea typeface="Arial"/>
                <a:cs typeface="Arial"/>
              </a:defRPr>
            </a:pPr>
            <a:r>
              <a:rPr sz="2175" b="0">
                <a:solidFill>
                  <a:srgbClr val="17252C"/>
                </a:solidFill>
                <a:latin typeface="Arial"/>
                <a:ea typeface="Arial"/>
                <a:cs typeface="Arial"/>
              </a:rPr>
              <a:t>Analysis and Mitigation of NoSQL Injections</a:t>
            </a:r>
          </a:p>
          <a:p xmlns:a="http://schemas.openxmlformats.org/drawingml/2006/main">
            <a:pPr>
              <a:defRPr sz="2175" b="0">
                <a:solidFill>
                  <a:srgbClr val="17252C"/>
                </a:solidFill>
                <a:latin typeface="Arial"/>
                <a:ea typeface="Arial"/>
                <a:cs typeface="Arial"/>
              </a:defRPr>
            </a:pPr>
            <a:r>
              <a:rPr sz="2175" b="0">
                <a:solidFill>
                  <a:srgbClr val="17252C"/>
                </a:solidFill>
                <a:latin typeface="Arial"/>
                <a:ea typeface="Arial"/>
                <a:cs typeface="Arial"/>
              </a:rPr>
              <a:t>IEEE Security &amp; Privacy, 14(2), 30-39</a:t>
            </a:r>
          </a:p>
          <a:p xmlns:a="http://schemas.openxmlformats.org/drawingml/2006/main">
            <a:pPr>
              <a:defRPr sz="2175" b="0">
                <a:solidFill>
                  <a:srgbClr val="17252C"/>
                </a:solidFill>
                <a:latin typeface="Arial"/>
                <a:ea typeface="Arial"/>
                <a:cs typeface="Arial"/>
              </a:defRPr>
            </a:pPr>
            <a:r>
              <a:rPr sz="2175" b="0">
                <a:solidFill>
                  <a:srgbClr val="17252C"/>
                </a:solidFill>
                <a:latin typeface="Arial"/>
                <a:ea typeface="Arial"/>
                <a:cs typeface="Arial"/>
              </a:rPr>
              <a:t>DOI: 10.1109/MSP.2016.36</a:t>
            </a:r>
          </a:p>
        </p:txBody>
      </p:sp>
      <p:sp>
        <p:nvSpPr>
          <p:cNvPr id="4" name="">
            <a:extLst xmlns:a="http://schemas.openxmlformats.org/drawingml/2006/main">
              <a:ext uri="{FF2B5EF4-FFF2-40B4-BE49-F238E27FC236}">
                <a16:creationId xmlns:a16="http://schemas.microsoft.com/office/drawing/2014/main" id="{9EB63764-6D2A-458B-87D8-A696DDCA4FE7}"/>
              </a:ext>
            </a:extLst>
          </p:cNvPr>
          <p:cNvSpPr>
            <a:spLocks xmlns:a="http://schemas.openxmlformats.org/drawingml/2006/main" noGrp="1"/>
          </p:cNvSpPr>
          <p:nvPr/>
        </p:nvSpPr>
        <p:spPr>
          <a:xfrm xmlns:a="http://schemas.openxmlformats.org/drawingml/2006/main">
            <a:off x="609600" y="3571875"/>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17252C"/>
                </a:solidFill>
                <a:latin typeface="Arial"/>
                <a:ea typeface="Arial"/>
                <a:cs typeface="Arial"/>
              </a:defRPr>
            </a:defPPr>
          </a:lstStyle>
          <a:p xmlns:a="http://schemas.openxmlformats.org/drawingml/2006/main">
            <a:pPr>
              <a:defRPr sz="1725" b="0">
                <a:solidFill>
                  <a:srgbClr val="17252C"/>
                </a:solidFill>
                <a:latin typeface="Arial"/>
                <a:ea typeface="Arial"/>
                <a:cs typeface="Arial"/>
              </a:defRPr>
            </a:pPr>
            <a:r>
              <a:rPr sz="1725" b="0">
                <a:solidFill>
                  <a:srgbClr val="17252C"/>
                </a:solidFill>
                <a:latin typeface="Arial"/>
                <a:ea typeface="Arial"/>
                <a:cs typeface="Arial"/>
              </a:rPr>
              <a:t>IBM Research publication record</a:t>
            </a:r>
          </a:p>
          <a:p xmlns:a="http://schemas.openxmlformats.org/drawingml/2006/main">
            <a:pPr>
              <a:defRPr sz="1725" b="0">
                <a:solidFill>
                  <a:srgbClr val="17252C"/>
                </a:solidFill>
                <a:latin typeface="Arial"/>
                <a:ea typeface="Arial"/>
                <a:cs typeface="Arial"/>
              </a:defRPr>
            </a:pPr>
            <a:r>
              <a:rPr sz="1725" b="0">
                <a:solidFill>
                  <a:srgbClr val="17252C"/>
                </a:solidFill>
                <a:latin typeface="Arial"/>
                <a:ea typeface="Arial"/>
                <a:cs typeface="Arial"/>
              </a:rPr>
              <a:t>research.ibm.com/publications/analysis-and-mitigation-of-nosql-injections</a:t>
            </a:r>
          </a:p>
        </p:txBody>
      </p:sp>
      <p:sp>
        <p:nvSpPr>
          <p:cNvPr id="5" name="">
            <a:extLst xmlns:a="http://schemas.openxmlformats.org/drawingml/2006/main">
              <a:ext uri="{FF2B5EF4-FFF2-40B4-BE49-F238E27FC236}">
                <a16:creationId xmlns:a16="http://schemas.microsoft.com/office/drawing/2014/main" id="{2F12FCF7-0748-42D0-A6A8-3B4EA571A193}"/>
              </a:ext>
            </a:extLst>
          </p:cNvPr>
          <p:cNvSpPr>
            <a:spLocks xmlns:a="http://schemas.openxmlformats.org/drawingml/2006/main" noGrp="1"/>
          </p:cNvSpPr>
          <p:nvPr/>
        </p:nvSpPr>
        <p:spPr>
          <a:xfrm xmlns:a="http://schemas.openxmlformats.org/drawingml/2006/main">
            <a:off x="609600" y="4848225"/>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7252C"/>
                </a:solidFill>
                <a:latin typeface="Arial"/>
                <a:ea typeface="Arial"/>
                <a:cs typeface="Arial"/>
              </a:defRPr>
            </a:defPPr>
          </a:lstStyle>
          <a:p xmlns:a="http://schemas.openxmlformats.org/drawingml/2006/main">
            <a:pPr>
              <a:defRPr sz="2025" b="0">
                <a:solidFill>
                  <a:srgbClr val="17252C"/>
                </a:solidFill>
                <a:latin typeface="Arial"/>
                <a:ea typeface="Arial"/>
                <a:cs typeface="Arial"/>
              </a:defRPr>
            </a:pPr>
            <a:r>
              <a:rPr sz="2025" b="0">
                <a:solidFill>
                  <a:srgbClr val="17252C"/>
                </a:solidFill>
                <a:latin typeface="Arial"/>
                <a:ea typeface="Arial"/>
                <a:cs typeface="Arial"/>
              </a:rPr>
              <a:t>MongoDB: $ne and $where query predicates</a:t>
            </a:r>
          </a:p>
          <a:p xmlns:a="http://schemas.openxmlformats.org/drawingml/2006/main">
            <a:pPr>
              <a:defRPr sz="2025" b="0">
                <a:solidFill>
                  <a:srgbClr val="17252C"/>
                </a:solidFill>
                <a:latin typeface="Arial"/>
                <a:ea typeface="Arial"/>
                <a:cs typeface="Arial"/>
              </a:defRPr>
            </a:pPr>
            <a:r>
              <a:rPr sz="2025" b="0">
                <a:solidFill>
                  <a:srgbClr val="17252C"/>
                </a:solidFill>
                <a:latin typeface="Arial"/>
                <a:ea typeface="Arial"/>
                <a:cs typeface="Arial"/>
              </a:rPr>
              <a:t>MongoDB 8.0: server-side JavaScript deprecation</a:t>
            </a:r>
          </a:p>
          <a:p xmlns:a="http://schemas.openxmlformats.org/drawingml/2006/main">
            <a:pPr>
              <a:defRPr sz="2025" b="0">
                <a:solidFill>
                  <a:srgbClr val="17252C"/>
                </a:solidFill>
                <a:latin typeface="Arial"/>
                <a:ea typeface="Arial"/>
                <a:cs typeface="Arial"/>
              </a:defRPr>
            </a:pPr>
            <a:r>
              <a:rPr sz="2025" b="0">
                <a:solidFill>
                  <a:srgbClr val="17252C"/>
                </a:solidFill>
                <a:latin typeface="Arial"/>
                <a:ea typeface="Arial"/>
                <a:cs typeface="Arial"/>
              </a:rPr>
              <a:t>Authors’ republication: InfoQ, January 2017</a:t>
            </a:r>
          </a:p>
        </p:txBody>
      </p:sp>
    </p:spTree>
    <p:extLst>
      <p:ext uri="{BB962C8B-B14F-4D97-AF65-F5344CB8AC3E}">
        <p14:creationId xmlns:p14="http://schemas.microsoft.com/office/powerpoint/2010/main" val="1374195603"/>
      </p:ext>
    </p:extLst>
  </p:cSld>
</p:sld>
</file>

<file path=ppt/slides/slide24.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3FA1DB54-625A-42A6-8648-3CB865CE2DD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7252C"/>
                </a:solidFill>
                <a:latin typeface="Arial"/>
                <a:ea typeface="Arial"/>
                <a:cs typeface="Arial"/>
              </a:defRPr>
            </a:defPPr>
          </a:lstStyle>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References: defences and project evidence</a:t>
            </a:r>
          </a:p>
        </p:txBody>
      </p:sp>
      <p:sp>
        <p:nvSpPr>
          <p:cNvPr id="2" name="">
            <a:extLst xmlns:a="http://schemas.openxmlformats.org/drawingml/2006/main">
              <a:ext uri="{FF2B5EF4-FFF2-40B4-BE49-F238E27FC236}">
                <a16:creationId xmlns:a16="http://schemas.microsoft.com/office/drawing/2014/main" id="{4D9611C2-02BC-4D6F-B3F1-C88085DE7F40}"/>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51616A"/>
                </a:solidFill>
                <a:latin typeface="Arial"/>
                <a:ea typeface="Arial"/>
                <a:cs typeface="Arial"/>
              </a:defRPr>
            </a:defPPr>
          </a:lstStyle>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0CBC8744-48FB-4C4C-BEB2-CC03FA7665F7}"/>
              </a:ext>
            </a:extLst>
          </p:cNvPr>
          <p:cNvSpPr>
            <a:spLocks xmlns:a="http://schemas.openxmlformats.org/drawingml/2006/main" noGrp="1"/>
          </p:cNvSpPr>
          <p:nvPr/>
        </p:nvSpPr>
        <p:spPr>
          <a:xfrm xmlns:a="http://schemas.openxmlformats.org/drawingml/2006/main">
            <a:off x="609600" y="1695450"/>
            <a:ext cx="1095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17252C"/>
                </a:solidFill>
                <a:latin typeface="Arial"/>
                <a:ea typeface="Arial"/>
                <a:cs typeface="Arial"/>
              </a:defRPr>
            </a:defPPr>
          </a:lstStyle>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OWASP NoSQL Security Cheat Sheet</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OWASP Password Storage Cheat Sheet</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MongoDB Built-In Roles documentation</a:t>
            </a:r>
          </a:p>
        </p:txBody>
      </p:sp>
      <p:sp>
        <p:nvSpPr>
          <p:cNvPr id="4" name="">
            <a:extLst xmlns:a="http://schemas.openxmlformats.org/drawingml/2006/main">
              <a:ext uri="{FF2B5EF4-FFF2-40B4-BE49-F238E27FC236}">
                <a16:creationId xmlns:a16="http://schemas.microsoft.com/office/drawing/2014/main" id="{DFB4439A-A301-49C5-8741-1F5349C84C02}"/>
              </a:ext>
            </a:extLst>
          </p:cNvPr>
          <p:cNvSpPr>
            <a:spLocks xmlns:a="http://schemas.openxmlformats.org/drawingml/2006/main" noGrp="1"/>
          </p:cNvSpPr>
          <p:nvPr/>
        </p:nvSpPr>
        <p:spPr>
          <a:xfrm xmlns:a="http://schemas.openxmlformats.org/drawingml/2006/main">
            <a:off x="609600" y="3543300"/>
            <a:ext cx="109537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52C"/>
                </a:solidFill>
                <a:latin typeface="Courier New"/>
                <a:ea typeface="Courier New"/>
                <a:cs typeface="Courier New"/>
              </a:defRPr>
            </a:defPPr>
          </a:lstStyle>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Project evidence</a:t>
            </a:r>
          </a:p>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nosql-lab/evidence/results.json</a:t>
            </a:r>
          </a:p>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nosql-lab/evidence/results.csv</a:t>
            </a:r>
          </a:p>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nosql-lab/src/server.mjs</a:t>
            </a:r>
          </a:p>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nosql-lab/scripts/experiment.mjs</a:t>
            </a:r>
          </a:p>
        </p:txBody>
      </p:sp>
    </p:spTree>
    <p:extLst>
      <p:ext uri="{BB962C8B-B14F-4D97-AF65-F5344CB8AC3E}">
        <p14:creationId xmlns:p14="http://schemas.microsoft.com/office/powerpoint/2010/main" val="3027301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2026-10-15T11:55:07.0050000Z</dcterms:created>
  <dcterms:modified xsi:type="dcterms:W3CDTF">2026-10-15T11:55:07.0050000Z</dcterms:modified>
</coreProperties>
</file>